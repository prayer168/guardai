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08ef65141fc4f5c" /><Relationship Type="http://schemas.openxmlformats.org/officeDocument/2006/relationships/extended-properties" Target="/docProps/app.xml" Id="R44b6afaf6f4b4d03" /><Relationship Type="http://schemas.openxmlformats.org/officeDocument/2006/relationships/officeDocument" Target="/ppt/presentation.xml" Id="R7a93d6a62e5d4b1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9385b6928f24e7f"/>
  </p:sldMasterIdLst>
  <p:notesMasterIdLst>
    <p:notesMasterId xmlns:r="http://schemas.openxmlformats.org/officeDocument/2006/relationships" r:id="R425c32f54a05404e"/>
  </p:notesMasterIdLst>
  <p:sldIdLst>
    <p:sldId xmlns:r="http://schemas.openxmlformats.org/officeDocument/2006/relationships" id="256" r:id="R21b6e8ef42c84104"/>
    <p:sldId xmlns:r="http://schemas.openxmlformats.org/officeDocument/2006/relationships" id="257" r:id="R00d50d449a8b4fc3"/>
    <p:sldId xmlns:r="http://schemas.openxmlformats.org/officeDocument/2006/relationships" id="258" r:id="R34441fd80f604e76"/>
    <p:sldId xmlns:r="http://schemas.openxmlformats.org/officeDocument/2006/relationships" id="259" r:id="Reb130491f86b4147"/>
    <p:sldId xmlns:r="http://schemas.openxmlformats.org/officeDocument/2006/relationships" id="260" r:id="R8b5bb9a36b964a2a"/>
    <p:sldId xmlns:r="http://schemas.openxmlformats.org/officeDocument/2006/relationships" id="261" r:id="Rff2adb8be66d4547"/>
    <p:sldId xmlns:r="http://schemas.openxmlformats.org/officeDocument/2006/relationships" id="262" r:id="Rada17139038c44df"/>
    <p:sldId xmlns:r="http://schemas.openxmlformats.org/officeDocument/2006/relationships" id="263" r:id="Re046593e003c4a7c"/>
    <p:sldId xmlns:r="http://schemas.openxmlformats.org/officeDocument/2006/relationships" id="264" r:id="R510957318a324b51"/>
    <p:sldId xmlns:r="http://schemas.openxmlformats.org/officeDocument/2006/relationships" id="265" r:id="Rf4f49dc2b15347ec"/>
    <p:sldId xmlns:r="http://schemas.openxmlformats.org/officeDocument/2006/relationships" id="266" r:id="Re77ef63f10b64053"/>
    <p:sldId xmlns:r="http://schemas.openxmlformats.org/officeDocument/2006/relationships" id="267" r:id="R97489b9f972347e1"/>
    <p:sldId xmlns:r="http://schemas.openxmlformats.org/officeDocument/2006/relationships" id="268" r:id="Rdfe11f36096448da"/>
    <p:sldId xmlns:r="http://schemas.openxmlformats.org/officeDocument/2006/relationships" id="269" r:id="R9f35fe755f374271"/>
    <p:sldId xmlns:r="http://schemas.openxmlformats.org/officeDocument/2006/relationships" id="270" r:id="Ra6d86878ffc04531"/>
    <p:sldId xmlns:r="http://schemas.openxmlformats.org/officeDocument/2006/relationships" id="271" r:id="Rd0b66d647bb34c4a"/>
  </p:sldIdLst>
  <p:sldSz cx="12192000" cy="6858000"/>
  <p:notesSz cx="6858000" cy="9144000"/>
  <p:defaultTextStyle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d444fab320844f6" /><Relationship Type="http://schemas.openxmlformats.org/officeDocument/2006/relationships/slideMaster" Target="/ppt/slideMasters/slideMaster1.xml" Id="R29385b6928f24e7f" /><Relationship Type="http://schemas.openxmlformats.org/officeDocument/2006/relationships/notesMaster" Target="/ppt/notesMasters/notesMaster1.xml" Id="R425c32f54a05404e" /><Relationship Type="http://schemas.openxmlformats.org/officeDocument/2006/relationships/presProps" Target="/ppt/presProps.xml" Id="R9d802c21c4894cd7" /><Relationship Type="http://schemas.openxmlformats.org/officeDocument/2006/relationships/viewProps" Target="/ppt/viewProps.xml" Id="R058288fa9c404e9b" /><Relationship Type="http://schemas.openxmlformats.org/officeDocument/2006/relationships/tableStyles" Target="/ppt/tableStyles.xml" Id="R42fe4eb56de84b99" /><Relationship Type="http://schemas.openxmlformats.org/officeDocument/2006/relationships/slide" Target="/ppt/slides/slide1.xml" Id="R21b6e8ef42c84104" /><Relationship Type="http://schemas.openxmlformats.org/officeDocument/2006/relationships/slide" Target="/ppt/slides/slide2.xml" Id="R00d50d449a8b4fc3" /><Relationship Type="http://schemas.openxmlformats.org/officeDocument/2006/relationships/slide" Target="/ppt/slides/slide3.xml" Id="R34441fd80f604e76" /><Relationship Type="http://schemas.openxmlformats.org/officeDocument/2006/relationships/slide" Target="/ppt/slides/slide4.xml" Id="Reb130491f86b4147" /><Relationship Type="http://schemas.openxmlformats.org/officeDocument/2006/relationships/slide" Target="/ppt/slides/slide5.xml" Id="R8b5bb9a36b964a2a" /><Relationship Type="http://schemas.openxmlformats.org/officeDocument/2006/relationships/slide" Target="/ppt/slides/slide6.xml" Id="Rff2adb8be66d4547" /><Relationship Type="http://schemas.openxmlformats.org/officeDocument/2006/relationships/slide" Target="/ppt/slides/slide7.xml" Id="Rada17139038c44df" /><Relationship Type="http://schemas.openxmlformats.org/officeDocument/2006/relationships/slide" Target="/ppt/slides/slide8.xml" Id="Re046593e003c4a7c" /><Relationship Type="http://schemas.openxmlformats.org/officeDocument/2006/relationships/slide" Target="/ppt/slides/slide9.xml" Id="R510957318a324b51" /><Relationship Type="http://schemas.openxmlformats.org/officeDocument/2006/relationships/slide" Target="/ppt/slides/slide10.xml" Id="Rf4f49dc2b15347ec" /><Relationship Type="http://schemas.openxmlformats.org/officeDocument/2006/relationships/slide" Target="/ppt/slides/slide11.xml" Id="Re77ef63f10b64053" /><Relationship Type="http://schemas.openxmlformats.org/officeDocument/2006/relationships/slide" Target="/ppt/slides/slide12.xml" Id="R97489b9f972347e1" /><Relationship Type="http://schemas.openxmlformats.org/officeDocument/2006/relationships/slide" Target="/ppt/slides/slide13.xml" Id="Rdfe11f36096448da" /><Relationship Type="http://schemas.openxmlformats.org/officeDocument/2006/relationships/slide" Target="/ppt/slides/slide14.xml" Id="R9f35fe755f374271" /><Relationship Type="http://schemas.openxmlformats.org/officeDocument/2006/relationships/slide" Target="/ppt/slides/slide15.xml" Id="Ra6d86878ffc04531" /><Relationship Type="http://schemas.openxmlformats.org/officeDocument/2006/relationships/slide" Target="/ppt/slides/slide16.xml" Id="Rd0b66d647bb34c4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b6d2048ea774fd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erif CJK T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erif CJK T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68b939257aa4a61" /><Relationship Type="http://schemas.openxmlformats.org/officeDocument/2006/relationships/notesMaster" Target="/ppt/notesMasters/notesMaster1.xml" Id="R11bdfa042cdd4a3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5d7eca9ddc14200" /><Relationship Type="http://schemas.openxmlformats.org/officeDocument/2006/relationships/notesMaster" Target="/ppt/notesMasters/notesMaster1.xml" Id="R5d9fb69c0746493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15206b54a734b8c" /><Relationship Type="http://schemas.openxmlformats.org/officeDocument/2006/relationships/notesMaster" Target="/ppt/notesMasters/notesMaster1.xml" Id="Raf3ff318bccd424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8304c0187cc427d" /><Relationship Type="http://schemas.openxmlformats.org/officeDocument/2006/relationships/notesMaster" Target="/ppt/notesMasters/notesMaster1.xml" Id="R8c5f31740df8400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953f154bc12426b" /><Relationship Type="http://schemas.openxmlformats.org/officeDocument/2006/relationships/notesMaster" Target="/ppt/notesMasters/notesMaster1.xml" Id="Rc670db502ca248f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3753893c6ac4249" /><Relationship Type="http://schemas.openxmlformats.org/officeDocument/2006/relationships/notesMaster" Target="/ppt/notesMasters/notesMaster1.xml" Id="R11ca19b9c0f04cb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44400f3291b4590" /><Relationship Type="http://schemas.openxmlformats.org/officeDocument/2006/relationships/notesMaster" Target="/ppt/notesMasters/notesMaster1.xml" Id="R45f05ff059e041f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d65175affe245de" /><Relationship Type="http://schemas.openxmlformats.org/officeDocument/2006/relationships/notesMaster" Target="/ppt/notesMasters/notesMaster1.xml" Id="R085b3447bbe8403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f2dbb858ebf42a4" /><Relationship Type="http://schemas.openxmlformats.org/officeDocument/2006/relationships/notesMaster" Target="/ppt/notesMasters/notesMaster1.xml" Id="Rebffe3cc3a8c42a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5c1e6382ad84fa8" /><Relationship Type="http://schemas.openxmlformats.org/officeDocument/2006/relationships/notesMaster" Target="/ppt/notesMasters/notesMaster1.xml" Id="Re242ed3183d9472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6e78012c0e34a74" /><Relationship Type="http://schemas.openxmlformats.org/officeDocument/2006/relationships/notesMaster" Target="/ppt/notesMasters/notesMaster1.xml" Id="R3a42d7d2b5ae4c7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1d5f24ac9414f9c" /><Relationship Type="http://schemas.openxmlformats.org/officeDocument/2006/relationships/notesMaster" Target="/ppt/notesMasters/notesMaster1.xml" Id="R4cf86390f6284bb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eefd4c487594160" /><Relationship Type="http://schemas.openxmlformats.org/officeDocument/2006/relationships/notesMaster" Target="/ppt/notesMasters/notesMaster1.xml" Id="Ra7056153ffae4b1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64eaa4422da430c" /><Relationship Type="http://schemas.openxmlformats.org/officeDocument/2006/relationships/notesMaster" Target="/ppt/notesMasters/notesMaster1.xml" Id="R06a5450d159847d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9e36f1ef297437e" /><Relationship Type="http://schemas.openxmlformats.org/officeDocument/2006/relationships/notesMaster" Target="/ppt/notesMasters/notesMaster1.xml" Id="R8982bd700ed8407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bbb9fee327d4429" /><Relationship Type="http://schemas.openxmlformats.org/officeDocument/2006/relationships/notesMaster" Target="/ppt/notesMasters/notesMaster1.xml" Id="Rd67e728b44b1499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官方來源：警政署 165 全民防騙網 https://165.npa.gov.tw/ 。GuardAI 的區隔為教育流程與學習證據，不取代官方查詢、客服或專線。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165 官方網站提供涉詐資訊公告、常見 QA、宣導素材與 165 專線；網站也引導使用 165 打詐儀錶板的防詐客服。來源：https://165.npa.gov.tw/ 與 https://165dashboard.tw/ 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Structured Outputs 參考 OpenAI 官方文件：https://platform.openai.com/docs/guides/structured-outputs 。GuardAI 實作另以 Zod 進行伺服器端驗證。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53／53 為專案自動測試。40／40 為合成案例對規則、Mock 安全約束與 Schema 的測試，不代表即時生成式 AI 準確率。真人前後測尚待匿名小型試用。測試報告位於 GitHub 專案 docs/test-report.md。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競賽官方來源：https://www.aiatw.org/aida2026-info/ 。高中職組定位為原型構建，教育科技為八大領域應用獎之一。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69e812e13a47e3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06ac23e43a74e8b" /><Relationship Type="http://schemas.openxmlformats.org/officeDocument/2006/relationships/slideLayout" Target="/ppt/slideLayouts/slideLayout1.xml" Id="R96326cdab550477c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6326cdab550477c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erif CJK T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erif CJK T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18ba836dc945c0" /><Relationship Type="http://schemas.openxmlformats.org/officeDocument/2006/relationships/image" Target="/ppt/media/image.png" Id="R6c7bc1069c164cee" /><Relationship Type="http://schemas.openxmlformats.org/officeDocument/2006/relationships/notesSlide" Target="/ppt/notesSlides/notesSlide1.xml" Id="R1d8c258697ce460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6120f4689c4cef" /><Relationship Type="http://schemas.openxmlformats.org/officeDocument/2006/relationships/notesSlide" Target="/ppt/notesSlides/notesSlide2.xml" Id="Radd8987005d144a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7ac9cfc2524e2f" /><Relationship Type="http://schemas.openxmlformats.org/officeDocument/2006/relationships/image" Target="/ppt/media/image.png" Id="Rc417aeb3829842c5" /><Relationship Type="http://schemas.openxmlformats.org/officeDocument/2006/relationships/notesSlide" Target="/ppt/notesSlides/notesSlide3.xml" Id="Re77798f6eec1480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57b7334b8a4c60" /><Relationship Type="http://schemas.openxmlformats.org/officeDocument/2006/relationships/image" Target="/ppt/media/image.png" Id="Ra28ee66ad6904dfc" /><Relationship Type="http://schemas.openxmlformats.org/officeDocument/2006/relationships/notesSlide" Target="/ppt/notesSlides/notesSlide4.xml" Id="R79dcc9ce656f4eb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800233a1144c05" /><Relationship Type="http://schemas.openxmlformats.org/officeDocument/2006/relationships/image" Target="/ppt/media/image2.png" Id="Rce505a9c201f4945" /><Relationship Type="http://schemas.openxmlformats.org/officeDocument/2006/relationships/notesSlide" Target="/ppt/notesSlides/notesSlide5.xml" Id="Ref09a54cf9c5419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e0c3b157c7428a" /><Relationship Type="http://schemas.openxmlformats.org/officeDocument/2006/relationships/image" Target="/ppt/media/image3.png" Id="R8d1fb844be5f413d" /><Relationship Type="http://schemas.openxmlformats.org/officeDocument/2006/relationships/notesSlide" Target="/ppt/notesSlides/notesSlide6.xml" Id="R0c08fd207158440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386a04e895443a" /><Relationship Type="http://schemas.openxmlformats.org/officeDocument/2006/relationships/image" Target="/ppt/media/image4.png" Id="Re6fb6aace44c4d7f" /><Relationship Type="http://schemas.openxmlformats.org/officeDocument/2006/relationships/notesSlide" Target="/ppt/notesSlides/notesSlide7.xml" Id="R239690af16df423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71f0c16bed4e0d" /><Relationship Type="http://schemas.openxmlformats.org/officeDocument/2006/relationships/image" Target="/ppt/media/image5.png" Id="Rabe8a96fcb9b44a4" /><Relationship Type="http://schemas.openxmlformats.org/officeDocument/2006/relationships/image" Target="/ppt/media/image6.png" Id="R69f416cc0165469f" /><Relationship Type="http://schemas.openxmlformats.org/officeDocument/2006/relationships/image" Target="/ppt/media/image7.png" Id="Rcfcd3f70f4c64084" /><Relationship Type="http://schemas.openxmlformats.org/officeDocument/2006/relationships/notesSlide" Target="/ppt/notesSlides/notesSlide8.xml" Id="Re50f097846ae443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4b5b98df1b4cc5" /><Relationship Type="http://schemas.openxmlformats.org/officeDocument/2006/relationships/image" Target="/ppt/media/image8.png" Id="R5b7bda6398ab409c" /><Relationship Type="http://schemas.openxmlformats.org/officeDocument/2006/relationships/notesSlide" Target="/ppt/notesSlides/notesSlide9.xml" Id="R4cd2c923dc6242a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c03407b3c2472a" /><Relationship Type="http://schemas.openxmlformats.org/officeDocument/2006/relationships/image" Target="/ppt/media/image8.png" Id="Rfd5cefc5f4164e64" /><Relationship Type="http://schemas.openxmlformats.org/officeDocument/2006/relationships/notesSlide" Target="/ppt/notesSlides/notesSlide10.xml" Id="R7d7e5c4c3401421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05ce6f696a4c1d" /><Relationship Type="http://schemas.openxmlformats.org/officeDocument/2006/relationships/image" Target="/ppt/media/image3.png" Id="R886b9789b7e14338" /><Relationship Type="http://schemas.openxmlformats.org/officeDocument/2006/relationships/notesSlide" Target="/ppt/notesSlides/notesSlide11.xml" Id="R6a42278a172a489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4a6c3a4e544c7b" /><Relationship Type="http://schemas.openxmlformats.org/officeDocument/2006/relationships/image" Target="/ppt/media/image9.png" Id="R80550fc4f5634066" /><Relationship Type="http://schemas.openxmlformats.org/officeDocument/2006/relationships/notesSlide" Target="/ppt/notesSlides/notesSlide12.xml" Id="R5eac655da628480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64cde59a854d32" /><Relationship Type="http://schemas.openxmlformats.org/officeDocument/2006/relationships/image" Target="/ppt/media/image.png" Id="Rec66a8d6a9214b46" /><Relationship Type="http://schemas.openxmlformats.org/officeDocument/2006/relationships/notesSlide" Target="/ppt/notesSlides/notesSlide13.xml" Id="R9f1d608bd2ba403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9a189228b64592" /><Relationship Type="http://schemas.openxmlformats.org/officeDocument/2006/relationships/notesSlide" Target="/ppt/notesSlides/notesSlide14.xml" Id="Rdea56d7dfad74eb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53b22f75d0402c" /><Relationship Type="http://schemas.openxmlformats.org/officeDocument/2006/relationships/image" Target="/ppt/media/image8.png" Id="Rfb1c4177fa804b92" /><Relationship Type="http://schemas.openxmlformats.org/officeDocument/2006/relationships/notesSlide" Target="/ppt/notesSlides/notesSlide15.xml" Id="R2ea3d4324d99459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b81fb5a53b41bc" /><Relationship Type="http://schemas.openxmlformats.org/officeDocument/2006/relationships/image" Target="/ppt/media/image10.png" Id="Re6a6de980cb04fd2" /><Relationship Type="http://schemas.openxmlformats.org/officeDocument/2006/relationships/notesSlide" Target="/ppt/notesSlides/notesSlide16.xml" Id="Rc67e7180c2b0497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628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4BF4B46-6C9B-46B8-948E-9DE8A0B51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83D"/>
          </a:solidFill>
          <a:ln xmlns:a="http://schemas.openxmlformats.org/drawingml/2006/main" w="12700">
            <a:solidFill>
              <a:srgbClr val="16283D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609DEEAE-021F-403E-9EFE-8CBEC0E1C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01168"/>
            <a:ext cx="11731752" cy="6446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83D"/>
          </a:solidFill>
          <a:ln xmlns:a="http://schemas.openxmlformats.org/drawingml/2006/main" w="15240">
            <a:solidFill>
              <a:srgbClr val="B98738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09D990B8-4D12-4EAD-8162-2187BAE61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5488"/>
            <a:ext cx="111556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7BE7B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9A51E20-5E48-4860-8E53-3B6E5A1DC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82512"/>
            <a:ext cx="111556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7BE7B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8C065CE-1984-4175-A0E7-F37213EDE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74320"/>
            <a:ext cx="3200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D7BE7B"/>
                </a:solidFill>
                <a:latin typeface="PMingLiU"/>
                <a:ea typeface="PMingLiU"/>
                <a:cs typeface="PMingLiU"/>
              </a:rPr>
              <a:t>✦</a:t>
            </a:r>
            <a:endParaRPr sz="16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888E017-04C2-4C83-9731-0AFBC2B42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4592" y="274320"/>
            <a:ext cx="3200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D7BE7B"/>
                </a:solidFill>
                <a:latin typeface="PMingLiU"/>
                <a:ea typeface="PMingLiU"/>
                <a:cs typeface="PMingLiU"/>
              </a:rPr>
              <a:t>❧</a:t>
            </a:r>
            <a:endParaRPr sz="16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3C8A0C8A-A2FC-4ACC-86BF-3CAAA72CF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6327648"/>
            <a:ext cx="3200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D7BE7B"/>
                </a:solidFill>
                <a:latin typeface="PMingLiU"/>
                <a:ea typeface="PMingLiU"/>
                <a:cs typeface="PMingLiU"/>
              </a:rPr>
              <a:t>✦</a:t>
            </a:r>
            <a:endParaRPr sz="16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396303E7-F4CE-4B29-97B5-759F8AA0B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4592" y="6327648"/>
            <a:ext cx="3200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D7BE7B"/>
                </a:solidFill>
                <a:latin typeface="PMingLiU"/>
                <a:ea typeface="PMingLiU"/>
                <a:cs typeface="PMingLiU"/>
              </a:rPr>
              <a:t>❧</a:t>
            </a:r>
            <a:endParaRPr sz="16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883B0850-C564-4546-A13F-BEFC2D098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73952"/>
            <a:ext cx="5486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D9C389"/>
                </a:solidFill>
                <a:latin typeface="PMingLiU"/>
                <a:ea typeface="PMingLiU"/>
                <a:cs typeface="PMingLiU"/>
              </a:rPr>
              <a:t>01</a:t>
            </a:r>
            <a:endParaRPr sz="900"/>
          </a:p>
        </p:txBody>
      </p:sp>
      <p:pic>
        <p:nvPicPr>
          <p:cNvPr id="11" name="Image 0">
            <a:extLst xmlns:a="http://schemas.openxmlformats.org/drawingml/2006/main">
              <a:ext uri="{FF2B5EF4-FFF2-40B4-BE49-F238E27FC236}">
                <a16:creationId xmlns:a16="http://schemas.microsoft.com/office/drawing/2014/main" id="{973538D5-A6D4-4738-A8CB-3A227556C85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7bc1069c164cee"/>
          <a:srcRect xmlns:a="http://schemas.openxmlformats.org/drawingml/2006/main" l="14000" t="3000" r="33420" b="5000"/>
          <a:stretch xmlns:a="http://schemas.openxmlformats.org/drawingml/2006/main"/>
        </p:blipFill>
        <p:spPr>
          <a:xfrm xmlns:a="http://schemas.openxmlformats.org/drawingml/2006/main">
            <a:off x="5888160" y="502920"/>
            <a:ext cx="5831462" cy="5742432"/>
          </a:xfrm>
          <a:prstGeom xmlns:a="http://schemas.openxmlformats.org/drawingml/2006/main" prst="rect">
            <a:avLst/>
          </a:prstGeom>
        </p:spPr>
      </p:pic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93A839EC-465B-4C9C-B651-3F17FA348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378" y="467502"/>
            <a:ext cx="5394960" cy="571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83D"/>
          </a:solidFill>
          <a:ln xmlns:a="http://schemas.openxmlformats.org/drawingml/2006/main" w="13970">
            <a:solidFill>
              <a:srgbClr val="B98738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EE5AE86E-E304-4B20-A038-C6505C8A7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841248"/>
            <a:ext cx="31089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D7BE7B"/>
                </a:solidFill>
                <a:latin typeface="PMingLiU"/>
                <a:ea typeface="PMingLiU"/>
                <a:cs typeface="PMingLiU"/>
              </a:rPr>
              <a:t>高中職組｜教育科技領域</a:t>
            </a:r>
            <a:endParaRPr sz="150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CAD14AE7-2BDD-4125-8EFB-5F3FF2AC4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444752"/>
            <a:ext cx="4709160" cy="1417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600" b="1">
                <a:solidFill>
                  <a:srgbClr val="FFFFFF"/>
                </a:solidFill>
                <a:latin typeface="PMingLiU"/>
                <a:ea typeface="PMingLiU"/>
                <a:cs typeface="PMingLiU"/>
              </a:rPr>
              <a:t>GuardAI</a:t>
            </a:r>
            <a:endParaRPr sz="3600"/>
          </a:p>
          <a:p xmlns:a="http://schemas.openxmlformats.org/drawingml/2006/main">
            <a:pPr marL="0" indent="0">
              <a:buNone/>
            </a:pPr>
            <a:r>
              <a:rPr sz="3600" b="1">
                <a:solidFill>
                  <a:srgbClr val="FFFFFF"/>
                </a:solidFill>
                <a:latin typeface="PMingLiU"/>
                <a:ea typeface="PMingLiU"/>
                <a:cs typeface="PMingLiU"/>
              </a:rPr>
              <a:t>反詐守門員</a:t>
            </a:r>
            <a:endParaRPr sz="360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2E1D3DC9-29D5-4575-84F1-8836380FF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246120"/>
            <a:ext cx="45262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>
            <a:defPPr>
              <a:defRPr sz="1950"/>
            </a:defPPr>
          </a:lstStyle>
          <a:p xmlns:a="http://schemas.openxmlformats.org/drawingml/2006/main">
            <a:pPr marL="0" indent="0">
              <a:buNone/>
            </a:pPr>
            <a:r>
              <a:rPr sz="1950">
                <a:solidFill>
                  <a:srgbClr val="E7D9B5"/>
                </a:solidFill>
                <a:latin typeface="PMingLiU"/>
                <a:ea typeface="PMingLiU"/>
                <a:cs typeface="PMingLiU"/>
              </a:rPr>
              <a:t>不替你判斷，陪你完成查證</a:t>
            </a:r>
            <a:endParaRPr sz="180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21A8ED06-4B7D-46A7-8518-AF2C9F7BB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329684"/>
            <a:ext cx="310896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endParaRPr sz="100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B3BB47B3-29ED-431D-AE60-9C64F78E7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4315968"/>
            <a:ext cx="21031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endParaRPr sz="120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3BF77EDA-CA81-4F1F-9F99-88FB3FF11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695444"/>
            <a:ext cx="310896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endParaRPr sz="100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1E1A3EA5-32C4-4471-94C6-37CCCE8A7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061204"/>
            <a:ext cx="310896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endParaRPr sz="1000"/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CB56CB4F-20EF-4A78-B87A-299E8E063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5623560"/>
            <a:ext cx="3474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275"/>
            </a:defPPr>
          </a:lstStyle>
          <a:p xmlns:a="http://schemas.openxmlformats.org/drawingml/2006/main">
            <a:pPr marL="0" indent="0">
              <a:buNone/>
            </a:pPr>
            <a:r>
              <a:rPr sz="1275">
                <a:solidFill>
                  <a:srgbClr val="CDB98A"/>
                </a:solidFill>
                <a:latin typeface="PMingLiU"/>
                <a:ea typeface="PMingLiU"/>
                <a:cs typeface="PMingLiU"/>
              </a:rPr>
              <a:t>2026 TAIA AI 創意設計大賽｜入圍優化版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14724728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EED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9832598-74B7-4E74-A42B-BDE1E1BFE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EDC"/>
          </a:solidFill>
          <a:ln xmlns:a="http://schemas.openxmlformats.org/drawingml/2006/main" w="12700">
            <a:solidFill>
              <a:srgbClr val="F6EEDC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4FBE639D-007E-47A5-995E-C28694DC9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368" y="201168"/>
            <a:ext cx="11731752" cy="6446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EDB"/>
          </a:solidFill>
          <a:ln xmlns:a="http://schemas.openxmlformats.org/drawingml/2006/main" w="15240">
            <a:solidFill>
              <a:srgbClr val="7B552E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16AC0029-4844-4985-883A-B1A762EE3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5488"/>
            <a:ext cx="111556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B98738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9C320894-791B-4757-9F02-D12FE25BA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82512"/>
            <a:ext cx="111556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B98738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A781725-E8A1-4A53-A298-E66E5FE7A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74320"/>
            <a:ext cx="3200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7B552E"/>
                </a:solidFill>
                <a:latin typeface="PMingLiU"/>
                <a:ea typeface="PMingLiU"/>
                <a:cs typeface="PMingLiU"/>
              </a:rPr>
              <a:t>✦</a:t>
            </a:r>
            <a:endParaRPr sz="16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4590382-94D9-4E2D-B698-35641F4D1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4592" y="274320"/>
            <a:ext cx="3200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7B552E"/>
                </a:solidFill>
                <a:latin typeface="PMingLiU"/>
                <a:ea typeface="PMingLiU"/>
                <a:cs typeface="PMingLiU"/>
              </a:rPr>
              <a:t>❧</a:t>
            </a:r>
            <a:endParaRPr sz="16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A297156-B28F-48BF-A7C8-EBEA18B7F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6327648"/>
            <a:ext cx="3200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7B552E"/>
                </a:solidFill>
                <a:latin typeface="PMingLiU"/>
                <a:ea typeface="PMingLiU"/>
                <a:cs typeface="PMingLiU"/>
              </a:rPr>
              <a:t>✦</a:t>
            </a:r>
            <a:endParaRPr sz="16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70FBCF56-014F-40A6-813A-5ADF65DE0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4592" y="6327648"/>
            <a:ext cx="3200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7B552E"/>
                </a:solidFill>
                <a:latin typeface="PMingLiU"/>
                <a:ea typeface="PMingLiU"/>
                <a:cs typeface="PMingLiU"/>
              </a:rPr>
              <a:t>❧</a:t>
            </a:r>
            <a:endParaRPr sz="16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49ECCC79-590E-4C45-B416-A3D8AE312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73952"/>
            <a:ext cx="5486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D5A3A"/>
                </a:solidFill>
                <a:latin typeface="PMingLiU"/>
                <a:ea typeface="PMingLiU"/>
                <a:cs typeface="PMingLiU"/>
              </a:rPr>
              <a:t>02</a:t>
            </a:r>
            <a:endParaRPr sz="9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1DE217D-216C-4732-972B-88CCE5BFE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"/>
            <a:ext cx="75895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2550"/>
            </a:defPPr>
          </a:lstStyle>
          <a:p xmlns:a="http://schemas.openxmlformats.org/drawingml/2006/main">
            <a:r>
              <a:rPr sz="2550" b="1">
                <a:latin typeface="PMingLiU"/>
                <a:ea typeface="PMingLiU"/>
                <a:cs typeface="PMingLiU"/>
              </a:rPr>
              <a:t>教育科技架構：一次判讀形成完整學習循環</a:t>
            </a:r>
            <a:endParaRPr sz="3000" b="1">
              <a:latin typeface="PMingLiU"/>
              <a:ea typeface="PMingLiU"/>
              <a:cs typeface="PMingLiU"/>
            </a:endParaRP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8026956D-B3E0-4BA6-8EAE-A346A5045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91640"/>
            <a:ext cx="3429000" cy="2254348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FF7E7"/>
          </a:solidFill>
          <a:ln xmlns:a="http://schemas.openxmlformats.org/drawingml/2006/main" w="13970">
            <a:solidFill>
              <a:srgbClr val="B98738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B58E6BED-88CB-44A4-AC27-F19D063B9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2403" y="1454932"/>
            <a:ext cx="475488" cy="4754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8738"/>
          </a:solidFill>
          <a:ln xmlns:a="http://schemas.openxmlformats.org/drawingml/2006/main" w="12700">
            <a:solidFill>
              <a:srgbClr val="5A3A21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D7FF81BA-C549-4DCE-8542-14C4B9AB9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1584" y="1611330"/>
            <a:ext cx="1048871" cy="1547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>
                <a:solidFill>
                  <a:schemeClr val="bg1"/>
                </a:solidFill>
                <a:latin typeface="PMingLiU"/>
                <a:ea typeface="PMingLiU"/>
                <a:cs typeface="PMingLiU"/>
              </a:rPr>
              <a:t>1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49035F7E-F0BD-413B-B268-B69B2BFBF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078" y="1999819"/>
            <a:ext cx="2823882" cy="3481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>
                <a:latin typeface="PMingLiU"/>
                <a:ea typeface="PMingLiU"/>
                <a:cs typeface="PMingLiU"/>
              </a:rPr>
              <a:t>學習目標</a:t>
            </a:r>
            <a:endParaRPr>
              <a:latin typeface="PMingLiU"/>
              <a:ea typeface="PMingLiU"/>
              <a:cs typeface="PMingLiU"/>
            </a:endParaRP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23402EFA-0A6E-4395-B055-5988F8F3C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241" y="2270423"/>
            <a:ext cx="2864224" cy="14313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>
            <a:defPPr>
              <a:defRPr sz="1425"/>
            </a:defPPr>
          </a:lstStyle>
          <a:p xmlns:a="http://schemas.openxmlformats.org/drawingml/2006/main">
            <a:r>
              <a:rPr sz="1425">
                <a:latin typeface="PMingLiU"/>
                <a:ea typeface="PMingLiU"/>
                <a:cs typeface="PMingLiU"/>
              </a:rPr>
              <a:t>辨認風險線索，提出查證問題，選擇安全行動。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EC030E7C-4BAF-49DA-9746-7F6767B3D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7880" y="5009755"/>
            <a:ext cx="320040" cy="50292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7B552E"/>
          </a:solidFill>
          <a:ln xmlns:a="http://schemas.openxmlformats.org/drawingml/2006/main" w="12700">
            <a:solidFill>
              <a:srgbClr val="7B552E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1B1EA0AA-4753-444C-B080-8AD78F49B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798" y="4134041"/>
            <a:ext cx="3429000" cy="2254348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FF7E7"/>
          </a:solidFill>
          <a:ln xmlns:a="http://schemas.openxmlformats.org/drawingml/2006/main" w="13970">
            <a:solidFill>
              <a:srgbClr val="556244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1E6ED858-795D-4FD8-AD0A-3469CE68B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7952" y="2743200"/>
            <a:ext cx="320040" cy="50292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7B552E"/>
          </a:solidFill>
          <a:ln xmlns:a="http://schemas.openxmlformats.org/drawingml/2006/main" w="12700">
            <a:solidFill>
              <a:srgbClr val="7B552E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DB85B7F2-76C7-49A7-A3AE-588943D6D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1691640"/>
            <a:ext cx="3429000" cy="2254346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FF7E7"/>
          </a:solidFill>
          <a:ln xmlns:a="http://schemas.openxmlformats.org/drawingml/2006/main" w="13970">
            <a:solidFill>
              <a:srgbClr val="B98738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503BE3E0-803B-4CB3-9A54-50E8B1714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7316" y="1466223"/>
            <a:ext cx="475488" cy="4754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8738"/>
          </a:solidFill>
          <a:ln xmlns:a="http://schemas.openxmlformats.org/drawingml/2006/main" w="12700">
            <a:solidFill>
              <a:srgbClr val="5A3A21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3B6C4031-1FBA-49A3-93E7-9FCCF4DED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912" y="1435608"/>
            <a:ext cx="475488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endParaRPr sz="1300"/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3A10EE3D-8881-4623-AF95-FB88208C8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2232" y="5009755"/>
            <a:ext cx="320040" cy="50292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7B552E"/>
          </a:solidFill>
          <a:ln xmlns:a="http://schemas.openxmlformats.org/drawingml/2006/main" w="12700">
            <a:solidFill>
              <a:srgbClr val="7B552E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952BB088-D51D-4B2E-9775-E374DDA23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158" y="4122288"/>
            <a:ext cx="3429000" cy="2254348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FF7E7"/>
          </a:solidFill>
          <a:ln xmlns:a="http://schemas.openxmlformats.org/drawingml/2006/main" w="13970">
            <a:solidFill>
              <a:srgbClr val="556244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311BCD99-4F94-486B-AEAF-DCD4947EE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7316" y="3899663"/>
            <a:ext cx="475488" cy="4754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6244"/>
          </a:solidFill>
          <a:ln xmlns:a="http://schemas.openxmlformats.org/drawingml/2006/main" w="12700">
            <a:solidFill>
              <a:srgbClr val="5A3A21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9731F298-4E06-4B64-AFA8-D53D35DF2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6702" y="4049693"/>
            <a:ext cx="475488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>
                <a:latin typeface="PMingLiU"/>
                <a:ea typeface="PMingLiU"/>
                <a:cs typeface="PMingLiU"/>
              </a:rPr>
              <a:t>4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75D31770-08FE-46A1-9514-4299FC882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578" y="4433741"/>
            <a:ext cx="12801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>
                <a:latin typeface="PMingLiU"/>
                <a:ea typeface="PMingLiU"/>
                <a:cs typeface="PMingLiU"/>
              </a:rPr>
              <a:t>即時回饋</a:t>
            </a:r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122A3555-4C4A-4419-8EA2-B60E53299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963" y="4548085"/>
            <a:ext cx="2838112" cy="1691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>
            <a:defPPr>
              <a:defRPr sz="1425"/>
            </a:defPPr>
          </a:lstStyle>
          <a:p xmlns:a="http://schemas.openxmlformats.org/drawingml/2006/main">
            <a:r>
              <a:rPr sz="1425">
                <a:latin typeface="PMingLiU"/>
                <a:ea typeface="PMingLiU"/>
                <a:cs typeface="PMingLiU"/>
              </a:rPr>
              <a:t>每次選擇後立即解釋安全與不安全的理由。</a:t>
            </a:r>
          </a:p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9628CF0D-A7EE-4887-A9E2-550D8218F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6992" y="2743200"/>
            <a:ext cx="320040" cy="50292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7B552E"/>
          </a:solidFill>
          <a:ln xmlns:a="http://schemas.openxmlformats.org/drawingml/2006/main" w="12700">
            <a:solidFill>
              <a:srgbClr val="7B552E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D9B74F59-C89F-46F5-929D-18522D70B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91640"/>
            <a:ext cx="3429000" cy="2254348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FF7E7"/>
          </a:solidFill>
          <a:ln xmlns:a="http://schemas.openxmlformats.org/drawingml/2006/main" w="13970">
            <a:solidFill>
              <a:srgbClr val="B98738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FF94C7CA-739E-4F4A-A584-7F83EBB6A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9622" y="1441390"/>
            <a:ext cx="475488" cy="4754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8738"/>
          </a:solidFill>
          <a:ln xmlns:a="http://schemas.openxmlformats.org/drawingml/2006/main" w="12700">
            <a:solidFill>
              <a:srgbClr val="5A3A21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1B66DC40-A061-40AF-BDCC-E56F07FC0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1435608"/>
            <a:ext cx="475488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endParaRPr sz="1300"/>
          </a:p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7C6F8FB3-3301-480E-95CB-049D622D5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7158" y="4416902"/>
            <a:ext cx="12801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>
                <a:latin typeface="PMingLiU"/>
                <a:ea typeface="PMingLiU"/>
                <a:cs typeface="PMingLiU"/>
              </a:rPr>
              <a:t>前後測</a:t>
            </a:r>
          </a:p>
        </p:txBody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1A42157B-3A00-413C-9708-E77BDDC39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3564" y="4559611"/>
            <a:ext cx="2758440" cy="1691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>
            <a:defPPr>
              <a:defRPr sz="1425"/>
            </a:defPPr>
          </a:lstStyle>
          <a:p xmlns:a="http://schemas.openxmlformats.org/drawingml/2006/main">
            <a:r>
              <a:rPr sz="1425">
                <a:latin typeface="PMingLiU"/>
                <a:ea typeface="PMingLiU"/>
                <a:cs typeface="PMingLiU"/>
              </a:rPr>
              <a:t>5 題前測與 5 題後測，比較分數與常忽略線索。</a:t>
            </a:r>
          </a:p>
        </p:txBody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78E00B46-9F59-4EA4-BE97-3C5427839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122288"/>
            <a:ext cx="3429000" cy="2254348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FF7E7"/>
          </a:solidFill>
          <a:ln xmlns:a="http://schemas.openxmlformats.org/drawingml/2006/main" w="13970">
            <a:solidFill>
              <a:srgbClr val="556244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E2331A02-DFD2-49AF-B206-DCDD106EA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3788" y="3899663"/>
            <a:ext cx="475488" cy="4754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6244"/>
          </a:solidFill>
          <a:ln xmlns:a="http://schemas.openxmlformats.org/drawingml/2006/main" w="12700">
            <a:solidFill>
              <a:srgbClr val="5A3A21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5" name="Text 43">
            <a:extLst xmlns:a="http://schemas.openxmlformats.org/drawingml/2006/main">
              <a:ext uri="{FF2B5EF4-FFF2-40B4-BE49-F238E27FC236}">
                <a16:creationId xmlns:a16="http://schemas.microsoft.com/office/drawing/2014/main" id="{00EBA87C-98DE-4F6C-80B6-7FDBCFDAE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4472" y="1435608"/>
            <a:ext cx="475488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endParaRPr>
              <a:latin typeface="PMingLiU"/>
              <a:ea typeface="PMingLiU"/>
              <a:cs typeface="PMingLiU"/>
            </a:endParaRPr>
          </a:p>
        </p:txBody>
      </p:sp>
      <p:sp>
        <p:nvSpPr>
          <p:cNvPr id="46" name="Text 44">
            <a:extLst xmlns:a="http://schemas.openxmlformats.org/drawingml/2006/main">
              <a:ext uri="{FF2B5EF4-FFF2-40B4-BE49-F238E27FC236}">
                <a16:creationId xmlns:a16="http://schemas.microsoft.com/office/drawing/2014/main" id="{4A95C7F9-BA62-4E6E-B6D6-0557755C8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6238" y="4433761"/>
            <a:ext cx="12801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>
                <a:latin typeface="PMingLiU"/>
                <a:ea typeface="PMingLiU"/>
                <a:cs typeface="PMingLiU"/>
              </a:rPr>
              <a:t>教師檢視</a:t>
            </a:r>
          </a:p>
        </p:txBody>
      </p:sp>
      <p:sp>
        <p:nvSpPr>
          <p:cNvPr id="47" name="Text 45">
            <a:extLst xmlns:a="http://schemas.openxmlformats.org/drawingml/2006/main">
              <a:ext uri="{FF2B5EF4-FFF2-40B4-BE49-F238E27FC236}">
                <a16:creationId xmlns:a16="http://schemas.microsoft.com/office/drawing/2014/main" id="{E6651CCB-DBD2-4C58-8C54-369B767D4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1217" y="4524758"/>
            <a:ext cx="2521217" cy="1691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>
            <a:defPPr>
              <a:defRPr sz="1425"/>
            </a:defPPr>
          </a:lstStyle>
          <a:p xmlns:a="http://schemas.openxmlformats.org/drawingml/2006/main">
            <a:r>
              <a:rPr sz="1425">
                <a:latin typeface="PMingLiU"/>
                <a:ea typeface="PMingLiU"/>
                <a:cs typeface="PMingLiU"/>
              </a:rPr>
              <a:t>匿名完成率、前後測進步與常錯概念，不公開排名。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E2792392-8B16-48DD-9EAB-ACD6D3B06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7158" y="1358216"/>
            <a:ext cx="1243410" cy="6720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>
                <a:solidFill>
                  <a:schemeClr val="bg1"/>
                </a:solidFill>
                <a:latin typeface="PMingLiU"/>
                <a:ea typeface="PMingLiU"/>
                <a:cs typeface="PMingLiU"/>
              </a:rPr>
              <a:t>2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9AE73670-9115-4BD2-AD0E-53FFDF248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8220" y="3896297"/>
            <a:ext cx="475488" cy="4754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6244"/>
          </a:solidFill>
          <a:ln xmlns:a="http://schemas.openxmlformats.org/drawingml/2006/main" w="12700">
            <a:solidFill>
              <a:srgbClr val="5A3A21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9" name="Text 13">
            <a:extLst xmlns:a="http://schemas.openxmlformats.org/drawingml/2006/main">
              <a:ext uri="{FF2B5EF4-FFF2-40B4-BE49-F238E27FC236}">
                <a16:creationId xmlns:a16="http://schemas.microsoft.com/office/drawing/2014/main" id="{9BCED0ED-395B-44A6-8D6D-0F57556F6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92" y="1602186"/>
            <a:ext cx="1048871" cy="1547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>
                <a:solidFill>
                  <a:schemeClr val="bg1"/>
                </a:solidFill>
                <a:latin typeface="PMingLiU"/>
                <a:ea typeface="PMingLiU"/>
                <a:cs typeface="PMingLiU"/>
              </a:rPr>
              <a:t>3</a:t>
            </a:r>
          </a:p>
        </p:txBody>
      </p:sp>
      <p:sp>
        <p:nvSpPr>
          <p:cNvPr id="60" name="Text 13">
            <a:extLst xmlns:a="http://schemas.openxmlformats.org/drawingml/2006/main">
              <a:ext uri="{FF2B5EF4-FFF2-40B4-BE49-F238E27FC236}">
                <a16:creationId xmlns:a16="http://schemas.microsoft.com/office/drawing/2014/main" id="{DA48DC50-313C-4267-81F9-846C0080D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1584" y="4054950"/>
            <a:ext cx="1048871" cy="1547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>
                <a:solidFill>
                  <a:schemeClr val="bg1"/>
                </a:solidFill>
                <a:latin typeface="PMingLiU"/>
                <a:ea typeface="PMingLiU"/>
                <a:cs typeface="PMingLiU"/>
              </a:rPr>
              <a:t>4</a:t>
            </a:r>
          </a:p>
        </p:txBody>
      </p:sp>
      <p:sp>
        <p:nvSpPr>
          <p:cNvPr id="61" name="Text 13">
            <a:extLst xmlns:a="http://schemas.openxmlformats.org/drawingml/2006/main">
              <a:ext uri="{FF2B5EF4-FFF2-40B4-BE49-F238E27FC236}">
                <a16:creationId xmlns:a16="http://schemas.microsoft.com/office/drawing/2014/main" id="{71A4E606-1A00-46C5-8E62-7D75443EE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4289" y="4059631"/>
            <a:ext cx="1048871" cy="1547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>
                <a:solidFill>
                  <a:schemeClr val="bg1"/>
                </a:solidFill>
                <a:latin typeface="PMingLiU"/>
                <a:ea typeface="PMingLiU"/>
                <a:cs typeface="PMingLiU"/>
              </a:rPr>
              <a:t>5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EF638413-D91C-4498-A586-53C7EF2C4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2704" y="1980833"/>
            <a:ext cx="12801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>
                <a:latin typeface="PMingLiU"/>
                <a:ea typeface="PMingLiU"/>
                <a:cs typeface="PMingLiU"/>
              </a:rPr>
              <a:t>情境示範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0869235D-7CA0-4A00-B6EE-A744AC792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777" y="2128315"/>
            <a:ext cx="2458099" cy="1691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>
            <a:defPPr>
              <a:defRPr sz="1350"/>
            </a:defPPr>
          </a:lstStyle>
          <a:p xmlns:a="http://schemas.openxmlformats.org/drawingml/2006/main">
            <a:r>
              <a:rPr sz="1350">
                <a:latin typeface="PMingLiU"/>
                <a:ea typeface="PMingLiU"/>
                <a:cs typeface="PMingLiU"/>
              </a:rPr>
              <a:t>六題情境含正常案例，練習停、看、問、查、求。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FD234FA4-2A1A-43C2-AA35-471DB83AF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3564" y="2128315"/>
            <a:ext cx="2758440" cy="1691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>
            <a:defPPr>
              <a:defRPr sz="1350"/>
            </a:defPPr>
          </a:lstStyle>
          <a:p xmlns:a="http://schemas.openxmlformats.org/drawingml/2006/main">
            <a:r>
              <a:rPr sz="1350">
                <a:latin typeface="PMingLiU"/>
                <a:ea typeface="PMingLiU"/>
                <a:cs typeface="PMingLiU"/>
              </a:rPr>
              <a:t>以 AI 拆出證據、疑點與白話說明。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5910DDE8-1BE6-4A92-8F7A-B1CE35692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3268" y="1958099"/>
            <a:ext cx="12801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>
                <a:latin typeface="PMingLiU"/>
                <a:ea typeface="PMingLiU"/>
                <a:cs typeface="PMingLiU"/>
              </a:rPr>
              <a:t>分支練習</a:t>
            </a:r>
          </a:p>
        </p:txBody>
      </p:sp>
      <p:sp>
        <p:nvSpPr>
          <p:cNvPr id="62" name="Text 13">
            <a:extLst xmlns:a="http://schemas.openxmlformats.org/drawingml/2006/main">
              <a:ext uri="{FF2B5EF4-FFF2-40B4-BE49-F238E27FC236}">
                <a16:creationId xmlns:a16="http://schemas.microsoft.com/office/drawing/2014/main" id="{4F7BF795-2704-41B2-961D-1EBA324D9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2930" y="4068704"/>
            <a:ext cx="1048871" cy="1547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>
                <a:solidFill>
                  <a:schemeClr val="bg1"/>
                </a:solidFill>
                <a:latin typeface="PMingLiU"/>
                <a:ea typeface="PMingLiU"/>
                <a:cs typeface="PMingLiU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2874345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EED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183587F-8723-4C8B-BF93-92497B50F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EDC"/>
          </a:solidFill>
          <a:ln xmlns:a="http://schemas.openxmlformats.org/drawingml/2006/main" w="12700">
            <a:solidFill>
              <a:srgbClr val="F6EEDC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252D06AD-7E25-401F-947E-2CE1B0C0D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01168"/>
            <a:ext cx="11731752" cy="6446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EDB"/>
          </a:solidFill>
          <a:ln xmlns:a="http://schemas.openxmlformats.org/drawingml/2006/main" w="15240">
            <a:solidFill>
              <a:srgbClr val="7B552E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54B63E68-70C8-4C1E-9CEE-5BFE6F7A5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5488"/>
            <a:ext cx="111556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B98738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7E51744-1B76-42A7-835B-DC52AE7D4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82512"/>
            <a:ext cx="111556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B98738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C5BB446-245C-4150-A134-71D240BA4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74320"/>
            <a:ext cx="3200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7B552E"/>
                </a:solidFill>
                <a:latin typeface="PMingLiU"/>
                <a:ea typeface="PMingLiU"/>
                <a:cs typeface="PMingLiU"/>
              </a:rPr>
              <a:t>✦</a:t>
            </a:r>
            <a:endParaRPr sz="16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D7510D9-0EDB-4D2A-8A09-E81CB6F39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4592" y="274320"/>
            <a:ext cx="3200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7B552E"/>
                </a:solidFill>
                <a:latin typeface="PMingLiU"/>
                <a:ea typeface="PMingLiU"/>
                <a:cs typeface="PMingLiU"/>
              </a:rPr>
              <a:t>❧</a:t>
            </a:r>
            <a:endParaRPr sz="16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05FF2D44-1D3B-4881-8C8E-AD3C1CF07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6327648"/>
            <a:ext cx="3200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7B552E"/>
                </a:solidFill>
                <a:latin typeface="PMingLiU"/>
                <a:ea typeface="PMingLiU"/>
                <a:cs typeface="PMingLiU"/>
              </a:rPr>
              <a:t>✦</a:t>
            </a:r>
            <a:endParaRPr sz="16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AC84DC09-14F6-4B44-AC41-BCF3B63B9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4592" y="6327648"/>
            <a:ext cx="3200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7B552E"/>
                </a:solidFill>
                <a:latin typeface="PMingLiU"/>
                <a:ea typeface="PMingLiU"/>
                <a:cs typeface="PMingLiU"/>
              </a:rPr>
              <a:t>❧</a:t>
            </a:r>
            <a:endParaRPr sz="16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EA36CAD0-2188-433D-89F7-423B17C58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73952"/>
            <a:ext cx="5486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D5A3A"/>
                </a:solidFill>
                <a:latin typeface="PMingLiU"/>
                <a:ea typeface="PMingLiU"/>
                <a:cs typeface="PMingLiU"/>
              </a:rPr>
              <a:t>03</a:t>
            </a:r>
            <a:endParaRPr sz="9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477DDD4F-D6CC-4784-B9BC-759E2E1BE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"/>
            <a:ext cx="75895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2550"/>
            </a:defPPr>
          </a:lstStyle>
          <a:p xmlns:a="http://schemas.openxmlformats.org/drawingml/2006/main">
            <a:pPr marL="0" indent="0">
              <a:buNone/>
            </a:pPr>
            <a:r>
              <a:rPr sz="2550" b="1">
                <a:solidFill>
                  <a:srgbClr val="2B2116"/>
                </a:solidFill>
                <a:latin typeface="PMingLiU"/>
                <a:ea typeface="PMingLiU"/>
                <a:cs typeface="PMingLiU"/>
              </a:rPr>
              <a:t>防詐資訊很多，真正的缺口是可遷移的查證能力</a:t>
            </a:r>
            <a:endParaRPr sz="28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03CC9CAD-BD52-4451-A485-F8DFB6E3B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005840"/>
            <a:ext cx="80467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350"/>
            </a:defPPr>
          </a:lstStyle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796A4B"/>
                </a:solidFill>
                <a:latin typeface="PMingLiU"/>
                <a:ea typeface="PMingLiU"/>
                <a:cs typeface="PMingLiU"/>
              </a:rPr>
              <a:t>165 提供官方資訊與諮詢，GuardAI 專注把一次判讀變成學習</a:t>
            </a:r>
            <a:endParaRPr sz="150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48AB80B8-C450-4679-AF12-8BBD3ED4A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508760"/>
            <a:ext cx="3291840" cy="16002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6E0"/>
          </a:solidFill>
          <a:ln xmlns:a="http://schemas.openxmlformats.org/drawingml/2006/main" w="13970">
            <a:solidFill>
              <a:srgbClr val="B98738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91C4C3F-AF81-4A59-B8F1-77785DF83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1655064"/>
            <a:ext cx="296265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2B2116"/>
                </a:solidFill>
                <a:latin typeface="PMingLiU"/>
                <a:ea typeface="PMingLiU"/>
                <a:cs typeface="PMingLiU"/>
              </a:rPr>
              <a:t>1｜痛點</a:t>
            </a:r>
            <a:endParaRPr sz="20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5F88890F-B08D-4923-8CE0-05E81F794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2002536"/>
            <a:ext cx="2962656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>
            <a:defPPr>
              <a:defRPr sz="1425"/>
            </a:defPPr>
          </a:lstStyle>
          <a:p xmlns:a="http://schemas.openxmlformats.org/drawingml/2006/main">
            <a:pPr marL="0" indent="0">
              <a:buNone/>
            </a:pPr>
            <a:r>
              <a:rPr sz="1425">
                <a:solidFill>
                  <a:srgbClr val="2B2116"/>
                </a:solidFill>
                <a:latin typeface="PMingLiU"/>
                <a:ea typeface="PMingLiU"/>
                <a:cs typeface="PMingLiU"/>
              </a:rPr>
              <a:t>收到訊息當下，學生與長者常因催促、冒名或個資要求而失去查證順序。</a:t>
            </a:r>
            <a:endParaRPr sz="16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206CFBAE-014A-4EBE-96E1-15420ED36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383280"/>
            <a:ext cx="3291840" cy="16002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6E0"/>
          </a:solidFill>
          <a:ln xmlns:a="http://schemas.openxmlformats.org/drawingml/2006/main" w="13970">
            <a:solidFill>
              <a:srgbClr val="B98738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5B8DBDA8-5195-46E8-97D7-4956016D5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3529584"/>
            <a:ext cx="296265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2B2116"/>
                </a:solidFill>
                <a:latin typeface="PMingLiU"/>
                <a:ea typeface="PMingLiU"/>
                <a:cs typeface="PMingLiU"/>
              </a:rPr>
              <a:t>2｜目標族群</a:t>
            </a:r>
            <a:endParaRPr sz="20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FA194B30-5CEA-4681-A5C0-DCCC7DEEE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3877056"/>
            <a:ext cx="2962656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>
            <a:defPPr>
              <a:defRPr sz="1425"/>
            </a:defPPr>
          </a:lstStyle>
          <a:p xmlns:a="http://schemas.openxmlformats.org/drawingml/2006/main">
            <a:pPr marL="0" indent="0">
              <a:buNone/>
            </a:pPr>
            <a:r>
              <a:rPr sz="1425">
                <a:solidFill>
                  <a:srgbClr val="2B2116"/>
                </a:solidFill>
                <a:latin typeface="PMingLiU"/>
                <a:ea typeface="PMingLiU"/>
                <a:cs typeface="PMingLiU"/>
              </a:rPr>
              <a:t>學生、家長／長者，以及需要帶領資訊素養課程的教師。</a:t>
            </a:r>
            <a:endParaRPr sz="1600"/>
          </a:p>
        </p:txBody>
      </p:sp>
      <p:pic>
        <p:nvPicPr>
          <p:cNvPr id="19" name="Image 0">
            <a:extLst xmlns:a="http://schemas.openxmlformats.org/drawingml/2006/main">
              <a:ext uri="{FF2B5EF4-FFF2-40B4-BE49-F238E27FC236}">
                <a16:creationId xmlns:a16="http://schemas.microsoft.com/office/drawing/2014/main" id="{65CAE485-3097-44FB-B5C1-DA9C5C63216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17aeb3829842c5"/>
          <a:srcRect xmlns:a="http://schemas.openxmlformats.org/drawingml/2006/main" l="9000" t="5000" r="14693" b="23000"/>
          <a:stretch xmlns:a="http://schemas.openxmlformats.org/drawingml/2006/main"/>
        </p:blipFill>
        <p:spPr>
          <a:xfrm xmlns:a="http://schemas.openxmlformats.org/drawingml/2006/main">
            <a:off x="4572000" y="1417320"/>
            <a:ext cx="6629400" cy="3520440"/>
          </a:xfrm>
          <a:prstGeom xmlns:a="http://schemas.openxmlformats.org/drawingml/2006/main" prst="rect">
            <a:avLst/>
          </a:prstGeom>
        </p:spPr>
      </p:pic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411D0834-667D-4CA4-A43F-4A6847372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063055"/>
            <a:ext cx="3388488" cy="73152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6E0"/>
          </a:solidFill>
          <a:ln xmlns:a="http://schemas.openxmlformats.org/drawingml/2006/main" w="13970">
            <a:solidFill>
              <a:srgbClr val="B98738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6DB30BD6-A641-4F69-B178-01E24206B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5116068"/>
            <a:ext cx="168249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2B2116"/>
                </a:solidFill>
                <a:latin typeface="PMingLiU"/>
                <a:ea typeface="PMingLiU"/>
                <a:cs typeface="PMingLiU"/>
              </a:rPr>
              <a:t>看得懂</a:t>
            </a:r>
            <a:endParaRPr sz="170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84DE685A-7B74-4EDA-8771-1253D4972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5308092"/>
            <a:ext cx="2962656" cy="4800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>
            <a:defPPr>
              <a:defRPr sz="1350"/>
            </a:defPPr>
          </a:lstStyle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2B2116"/>
                </a:solidFill>
                <a:latin typeface="PMingLiU"/>
                <a:ea typeface="PMingLiU"/>
                <a:cs typeface="PMingLiU"/>
              </a:rPr>
              <a:t>找出具體風險線索，不只看分數。</a:t>
            </a:r>
            <a:endParaRPr sz="1500"/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505172C9-9B2D-4B93-8B5E-044F8C507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8648" y="5079743"/>
            <a:ext cx="2824223" cy="73152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6E0"/>
          </a:solidFill>
          <a:ln xmlns:a="http://schemas.openxmlformats.org/drawingml/2006/main" w="13970">
            <a:solidFill>
              <a:srgbClr val="B98738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4BF02F1F-3F8D-45C0-97A7-2D9339579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6132" y="5125212"/>
            <a:ext cx="168249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2B2116"/>
                </a:solidFill>
                <a:latin typeface="PMingLiU"/>
                <a:ea typeface="PMingLiU"/>
                <a:cs typeface="PMingLiU"/>
              </a:rPr>
              <a:t>敢查證</a:t>
            </a:r>
            <a:endParaRPr sz="1700"/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9C2D289B-AE44-4C57-BA6B-DF86ACF33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87" y="5434911"/>
            <a:ext cx="2692908" cy="23317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>
            <a:defPPr>
              <a:defRPr sz="1350"/>
            </a:defPPr>
          </a:lstStyle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2B2116"/>
                </a:solidFill>
                <a:latin typeface="PMingLiU"/>
                <a:ea typeface="PMingLiU"/>
                <a:cs typeface="PMingLiU"/>
              </a:rPr>
              <a:t>提出三個能獨立確認的問題。</a:t>
            </a:r>
            <a:endParaRPr sz="1500"/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F8ADCABE-C4DA-40F0-A990-E2441933C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071" y="5074920"/>
            <a:ext cx="3251329" cy="73152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6E0"/>
          </a:solidFill>
          <a:ln xmlns:a="http://schemas.openxmlformats.org/drawingml/2006/main" w="13970">
            <a:solidFill>
              <a:srgbClr val="B98738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7E14F40A-AD16-4B42-84B5-0AD9999A9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4663" y="5125212"/>
            <a:ext cx="181965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2B2116"/>
                </a:solidFill>
                <a:latin typeface="PMingLiU"/>
                <a:ea typeface="PMingLiU"/>
                <a:cs typeface="PMingLiU"/>
              </a:rPr>
              <a:t>能求助</a:t>
            </a:r>
            <a:endParaRPr sz="1700"/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5D871202-8095-44FD-925D-BE5795F33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4663" y="5244084"/>
            <a:ext cx="3183385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>
            <a:defPPr>
              <a:defRPr sz="1350"/>
            </a:defPPr>
          </a:lstStyle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2B2116"/>
                </a:solidFill>
                <a:latin typeface="PMingLiU"/>
                <a:ea typeface="PMingLiU"/>
                <a:cs typeface="PMingLiU"/>
              </a:rPr>
              <a:t>整理可交給家人、老師或 165 的摘要。</a:t>
            </a:r>
            <a:endParaRPr sz="1500"/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D33BED6A-C6BB-4183-8247-5F8326D2D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06440"/>
            <a:ext cx="10835640" cy="41148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1E0BB"/>
          </a:solidFill>
          <a:ln xmlns:a="http://schemas.openxmlformats.org/drawingml/2006/main" w="13970">
            <a:solidFill>
              <a:srgbClr val="B98738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3C0BDE9F-D381-4B72-A32D-FE9F1FE2B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925312"/>
            <a:ext cx="104698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72000"/>
          </a:bodyPr>
          <a:lstStyle xmlns:a="http://schemas.openxmlformats.org/drawingml/2006/main">
            <a:defPPr>
              <a:defRPr sz="1500"/>
            </a:defPPr>
          </a:lstStyle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5A3A21"/>
                </a:solidFill>
                <a:latin typeface="PMingLiU"/>
                <a:ea typeface="PMingLiU"/>
                <a:cs typeface="PMingLiU"/>
              </a:rPr>
              <a:t>GuardAI 補上學習與練習，不取代 165 的官方查詢、客服與專線。</a:t>
            </a:r>
            <a:endParaRPr sz="1600"/>
          </a:p>
        </p:txBody>
      </p:sp>
    </p:spTree>
    <p:extLst>
      <p:ext uri="{BB962C8B-B14F-4D97-AF65-F5344CB8AC3E}">
        <p14:creationId xmlns:p14="http://schemas.microsoft.com/office/powerpoint/2010/main" val="134457574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628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050C293-94D2-474D-83F5-E1A0AD64E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83D"/>
          </a:solidFill>
          <a:ln xmlns:a="http://schemas.openxmlformats.org/drawingml/2006/main" w="12700">
            <a:solidFill>
              <a:srgbClr val="16283D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EA16602D-E47A-4422-9638-800024239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01168"/>
            <a:ext cx="11731752" cy="6446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83D"/>
          </a:solidFill>
          <a:ln xmlns:a="http://schemas.openxmlformats.org/drawingml/2006/main" w="15240">
            <a:solidFill>
              <a:srgbClr val="B98738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A4E4F109-75F1-486C-9596-71B857AC8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5488"/>
            <a:ext cx="111556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7BE7B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D2042F3C-BA5A-4A01-8124-A9320B267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82512"/>
            <a:ext cx="111556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7BE7B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F22DD41-68CD-4D22-9BAF-28A7244EB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74320"/>
            <a:ext cx="3200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D7BE7B"/>
                </a:solidFill>
                <a:latin typeface="PMingLiU"/>
                <a:ea typeface="PMingLiU"/>
                <a:cs typeface="PMingLiU"/>
              </a:rPr>
              <a:t>✦</a:t>
            </a:r>
            <a:endParaRPr sz="16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D94C4C0-944F-4162-BBA5-BE9564AD2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4592" y="274320"/>
            <a:ext cx="3200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D7BE7B"/>
                </a:solidFill>
                <a:latin typeface="PMingLiU"/>
                <a:ea typeface="PMingLiU"/>
                <a:cs typeface="PMingLiU"/>
              </a:rPr>
              <a:t>❧</a:t>
            </a:r>
            <a:endParaRPr sz="16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68A1203-5971-420A-930A-49BAC1DAD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6327648"/>
            <a:ext cx="3200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D7BE7B"/>
                </a:solidFill>
                <a:latin typeface="PMingLiU"/>
                <a:ea typeface="PMingLiU"/>
                <a:cs typeface="PMingLiU"/>
              </a:rPr>
              <a:t>✦</a:t>
            </a:r>
            <a:endParaRPr sz="16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47D56117-5F15-4125-B7FE-C4547913D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4592" y="6327648"/>
            <a:ext cx="3200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D7BE7B"/>
                </a:solidFill>
                <a:latin typeface="PMingLiU"/>
                <a:ea typeface="PMingLiU"/>
                <a:cs typeface="PMingLiU"/>
              </a:rPr>
              <a:t>❧</a:t>
            </a:r>
            <a:endParaRPr sz="16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C4C8A50F-6751-4A75-903B-087E3FCCE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73952"/>
            <a:ext cx="5486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D9C389"/>
                </a:solidFill>
                <a:latin typeface="PMingLiU"/>
                <a:ea typeface="PMingLiU"/>
                <a:cs typeface="PMingLiU"/>
              </a:rPr>
              <a:t>04</a:t>
            </a:r>
            <a:endParaRPr sz="9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E37ED700-75E8-40DC-B277-D6F79CA81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"/>
            <a:ext cx="75895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2550"/>
            </a:defPPr>
          </a:lstStyle>
          <a:p xmlns:a="http://schemas.openxmlformats.org/drawingml/2006/main">
            <a:pPr marL="0" indent="0">
              <a:buNone/>
            </a:pPr>
            <a:r>
              <a:rPr sz="2550" b="1">
                <a:solidFill>
                  <a:srgbClr val="FFFFFF"/>
                </a:solidFill>
                <a:latin typeface="PMingLiU"/>
                <a:ea typeface="PMingLiU"/>
                <a:cs typeface="PMingLiU"/>
              </a:rPr>
              <a:t>三種使用情境，共用一套查證流程</a:t>
            </a:r>
            <a:endParaRPr sz="28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161D0259-562C-4243-95E0-DF6F362BA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005840"/>
            <a:ext cx="80467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endParaRPr sz="1500"/>
          </a:p>
        </p:txBody>
      </p:sp>
      <p:pic>
        <p:nvPicPr>
          <p:cNvPr id="13" name="Image 0">
            <a:extLst xmlns:a="http://schemas.openxmlformats.org/drawingml/2006/main">
              <a:ext uri="{FF2B5EF4-FFF2-40B4-BE49-F238E27FC236}">
                <a16:creationId xmlns:a16="http://schemas.microsoft.com/office/drawing/2014/main" id="{C145CBC3-DC1D-4E67-ADF5-FB050A00C23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8ee66ad6904dfc"/>
          <a:srcRect xmlns:a="http://schemas.openxmlformats.org/drawingml/2006/main" l="5000" t="8000" r="37595" b="14000"/>
          <a:stretch xmlns:a="http://schemas.openxmlformats.org/drawingml/2006/main"/>
        </p:blipFill>
        <p:spPr>
          <a:xfrm xmlns:a="http://schemas.openxmlformats.org/drawingml/2006/main">
            <a:off x="713232" y="1444752"/>
            <a:ext cx="5440680" cy="4160520"/>
          </a:xfrm>
          <a:prstGeom xmlns:a="http://schemas.openxmlformats.org/drawingml/2006/main" prst="rect">
            <a:avLst/>
          </a:prstGeom>
        </p:spPr>
      </p:pic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1A21ECE2-794B-4BCA-9B5B-725A1CFEC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417320"/>
            <a:ext cx="4892040" cy="82296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EFE0BD"/>
          </a:solidFill>
          <a:ln xmlns:a="http://schemas.openxmlformats.org/drawingml/2006/main" w="13970">
            <a:solidFill>
              <a:srgbClr val="B98738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40E3564E-B4B9-4FD0-B1ED-A065859C6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112" y="1563624"/>
            <a:ext cx="419709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8824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2B2116"/>
                </a:solidFill>
                <a:latin typeface="PMingLiU"/>
                <a:ea typeface="PMingLiU"/>
                <a:cs typeface="PMingLiU"/>
              </a:rPr>
              <a:t>學生｜班會與資訊素養</a:t>
            </a:r>
            <a:endParaRPr sz="170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8D90BBA2-40E7-4497-9F54-71D7649C0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112" y="1911096"/>
            <a:ext cx="419709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>
            <a:defPPr>
              <a:defRPr sz="1350"/>
            </a:defPPr>
          </a:lstStyle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2B2116"/>
                </a:solidFill>
                <a:latin typeface="PMingLiU"/>
                <a:ea typeface="PMingLiU"/>
                <a:cs typeface="PMingLiU"/>
              </a:rPr>
              <a:t>貼上社群私訊，找出限時、陌生連結與 OTP。</a:t>
            </a:r>
            <a:endParaRPr sz="150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772D3CCB-EF13-4873-A9B3-E56EF16F9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487168"/>
            <a:ext cx="4892040" cy="82296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EFE0BD"/>
          </a:solidFill>
          <a:ln xmlns:a="http://schemas.openxmlformats.org/drawingml/2006/main" w="13970">
            <a:solidFill>
              <a:srgbClr val="B98738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884D0501-0FD3-4852-8301-3D322579D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112" y="2633472"/>
            <a:ext cx="419709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8824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2B2116"/>
                </a:solidFill>
                <a:latin typeface="PMingLiU"/>
                <a:ea typeface="PMingLiU"/>
                <a:cs typeface="PMingLiU"/>
              </a:rPr>
              <a:t>親子／長者｜共同查證</a:t>
            </a:r>
            <a:endParaRPr sz="170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36BC5C22-863D-4B22-BEA1-630625D3E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112" y="2980944"/>
            <a:ext cx="467258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>
            <a:defPPr>
              <a:defRPr sz="1350"/>
            </a:defPPr>
          </a:lstStyle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2B2116"/>
                </a:solidFill>
                <a:latin typeface="PMingLiU"/>
                <a:ea typeface="PMingLiU"/>
                <a:cs typeface="PMingLiU"/>
              </a:rPr>
              <a:t>一起檢查假客服或冒名借錢，改走官方管道確認。</a:t>
            </a:r>
            <a:endParaRPr sz="1500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8CEEC8D8-029B-494F-80F3-6AC4DD4A3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3557016"/>
            <a:ext cx="4892040" cy="82296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EFE0BD"/>
          </a:solidFill>
          <a:ln xmlns:a="http://schemas.openxmlformats.org/drawingml/2006/main" w="13970">
            <a:solidFill>
              <a:srgbClr val="B98738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058FBE80-8735-4465-A5F3-8ED493017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112" y="3703320"/>
            <a:ext cx="419709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8824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2B2116"/>
                </a:solidFill>
                <a:latin typeface="PMingLiU"/>
                <a:ea typeface="PMingLiU"/>
                <a:cs typeface="PMingLiU"/>
              </a:rPr>
              <a:t>教師｜匿名學習證據</a:t>
            </a:r>
            <a:endParaRPr sz="170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9B3D6F40-DBC8-40C3-B16D-E4651A41B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112" y="4050792"/>
            <a:ext cx="419709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>
            <a:defPPr>
              <a:defRPr sz="1350"/>
            </a:defPPr>
          </a:lstStyle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2B2116"/>
                </a:solidFill>
                <a:latin typeface="PMingLiU"/>
                <a:ea typeface="PMingLiU"/>
                <a:cs typeface="PMingLiU"/>
              </a:rPr>
              <a:t>指派情境包，查看完成率、進步與常錯概念。</a:t>
            </a:r>
            <a:endParaRPr sz="1500"/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53FF11C4-D48E-4B1D-BC02-80A9A39FF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4626864"/>
            <a:ext cx="4892040" cy="82296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EFE0BD"/>
          </a:solidFill>
          <a:ln xmlns:a="http://schemas.openxmlformats.org/drawingml/2006/main" w="13970">
            <a:solidFill>
              <a:srgbClr val="B98738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F6C760C1-78A6-4576-B558-F747ED008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112" y="4773168"/>
            <a:ext cx="419709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8824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2B2116"/>
                </a:solidFill>
                <a:latin typeface="PMingLiU"/>
                <a:ea typeface="PMingLiU"/>
                <a:cs typeface="PMingLiU"/>
              </a:rPr>
              <a:t>競賽現場｜離線可展示</a:t>
            </a:r>
            <a:endParaRPr sz="1700"/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3739C80A-37FA-46C3-A78D-CEA4E1D5A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112" y="5120640"/>
            <a:ext cx="419709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>
            <a:defPPr>
              <a:defRPr sz="1350"/>
            </a:defPPr>
          </a:lstStyle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2B2116"/>
                </a:solidFill>
                <a:latin typeface="PMingLiU"/>
                <a:ea typeface="PMingLiU"/>
                <a:cs typeface="PMingLiU"/>
              </a:rPr>
              <a:t>3–5 分鐘導覽，斷網或 AI 失敗仍可完成。</a:t>
            </a:r>
            <a:endParaRPr sz="1500"/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BB244087-D2C2-4AAE-B329-F4E280F97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06440"/>
            <a:ext cx="10835640" cy="41148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20344D"/>
          </a:solidFill>
          <a:ln xmlns:a="http://schemas.openxmlformats.org/drawingml/2006/main" w="13970">
            <a:solidFill>
              <a:srgbClr val="D7BE7B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7F0EBAC1-FE97-4A95-9D1A-0B3F360ED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925312"/>
            <a:ext cx="104698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68571"/>
          </a:bodyPr>
          <a:lstStyle xmlns:a="http://schemas.openxmlformats.org/drawingml/2006/main">
            <a:defPPr>
              <a:defRPr sz="1575"/>
            </a:defPPr>
          </a:lstStyle>
          <a:p xmlns:a="http://schemas.openxmlformats.org/drawingml/2006/main">
            <a:pPr marL="0" indent="0" algn="ctr">
              <a:buNone/>
            </a:pPr>
            <a:r>
              <a:rPr sz="1575" b="1">
                <a:solidFill>
                  <a:srgbClr val="F4E5BC"/>
                </a:solidFill>
                <a:latin typeface="PMingLiU"/>
                <a:ea typeface="PMingLiU"/>
                <a:cs typeface="PMingLiU"/>
              </a:rPr>
              <a:t>同一平台同時支援個人練習、家庭共學與班級教學。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10154691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EED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0C66E16-C040-4EDC-B633-0A2DF159A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EDC"/>
          </a:solidFill>
          <a:ln xmlns:a="http://schemas.openxmlformats.org/drawingml/2006/main" w="12700">
            <a:solidFill>
              <a:srgbClr val="F6EEDC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B7305FF-423B-4B22-922F-E64E688D0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01168"/>
            <a:ext cx="11731752" cy="6446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EDB"/>
          </a:solidFill>
          <a:ln xmlns:a="http://schemas.openxmlformats.org/drawingml/2006/main" w="15240">
            <a:solidFill>
              <a:srgbClr val="7B552E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02FA107-86CA-49B2-95E6-7C09D9E68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5488"/>
            <a:ext cx="111556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B98738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FD374B26-4E95-4B60-B4C0-DF4F99292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82512"/>
            <a:ext cx="111556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B98738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B43A1ED-FFC1-4F3E-A50F-D1456D899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74320"/>
            <a:ext cx="3200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7B552E"/>
                </a:solidFill>
                <a:latin typeface="PMingLiU"/>
                <a:ea typeface="PMingLiU"/>
                <a:cs typeface="PMingLiU"/>
              </a:rPr>
              <a:t>✦</a:t>
            </a:r>
            <a:endParaRPr sz="16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E853B27-A63B-470B-A086-5BDA7BE95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4592" y="274320"/>
            <a:ext cx="3200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7B552E"/>
                </a:solidFill>
                <a:latin typeface="PMingLiU"/>
                <a:ea typeface="PMingLiU"/>
                <a:cs typeface="PMingLiU"/>
              </a:rPr>
              <a:t>❧</a:t>
            </a:r>
            <a:endParaRPr sz="16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C8BA3D3-CF07-49DE-A4D9-B4E1625BB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6327648"/>
            <a:ext cx="3200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7B552E"/>
                </a:solidFill>
                <a:latin typeface="PMingLiU"/>
                <a:ea typeface="PMingLiU"/>
                <a:cs typeface="PMingLiU"/>
              </a:rPr>
              <a:t>✦</a:t>
            </a:r>
            <a:endParaRPr sz="16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E1EA09B-60B0-4925-986B-F30912C8C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4592" y="6327648"/>
            <a:ext cx="3200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7B552E"/>
                </a:solidFill>
                <a:latin typeface="PMingLiU"/>
                <a:ea typeface="PMingLiU"/>
                <a:cs typeface="PMingLiU"/>
              </a:rPr>
              <a:t>❧</a:t>
            </a:r>
            <a:endParaRPr sz="16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E5286767-E422-4EFB-A715-2D0D00533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73952"/>
            <a:ext cx="5486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D5A3A"/>
                </a:solidFill>
                <a:latin typeface="PMingLiU"/>
                <a:ea typeface="PMingLiU"/>
                <a:cs typeface="PMingLiU"/>
              </a:rPr>
              <a:t>05</a:t>
            </a:r>
            <a:endParaRPr sz="9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6583070B-E8A4-47E4-8DAD-442638CE6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"/>
            <a:ext cx="75895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2550"/>
            </a:defPPr>
          </a:lstStyle>
          <a:p xmlns:a="http://schemas.openxmlformats.org/drawingml/2006/main">
            <a:pPr marL="0" indent="0">
              <a:buNone/>
            </a:pPr>
            <a:r>
              <a:rPr sz="2550" b="1">
                <a:solidFill>
                  <a:srgbClr val="2B2116"/>
                </a:solidFill>
                <a:latin typeface="PMingLiU"/>
                <a:ea typeface="PMingLiU"/>
                <a:cs typeface="PMingLiU"/>
              </a:rPr>
              <a:t>核心學習流程：停、看、問、查、求</a:t>
            </a:r>
            <a:endParaRPr sz="30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2E4BCDEC-74BC-4D44-90A1-3A5043A45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005840"/>
            <a:ext cx="80467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endParaRPr sz="1500"/>
          </a:p>
        </p:txBody>
      </p:sp>
      <p:pic>
        <p:nvPicPr>
          <p:cNvPr id="13" name="Image 0">
            <a:extLst xmlns:a="http://schemas.openxmlformats.org/drawingml/2006/main">
              <a:ext uri="{FF2B5EF4-FFF2-40B4-BE49-F238E27FC236}">
                <a16:creationId xmlns:a16="http://schemas.microsoft.com/office/drawing/2014/main" id="{A85F3E02-4E15-4D53-8E2C-60DF1D5680A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505a9c201f4945"/>
          <a:srcRect xmlns:a="http://schemas.openxmlformats.org/drawingml/2006/main" l="10000" t="8000" r="34433" b="17000"/>
          <a:stretch xmlns:a="http://schemas.openxmlformats.org/drawingml/2006/main"/>
        </p:blipFill>
        <p:spPr>
          <a:xfrm xmlns:a="http://schemas.openxmlformats.org/drawingml/2006/main">
            <a:off x="731520" y="1591066"/>
            <a:ext cx="4754880" cy="3611880"/>
          </a:xfrm>
          <a:prstGeom xmlns:a="http://schemas.openxmlformats.org/drawingml/2006/main" prst="rect">
            <a:avLst/>
          </a:prstGeom>
        </p:spPr>
      </p:pic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0B76F689-11ED-425F-82F9-AF57C511C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6440" y="1417319"/>
            <a:ext cx="3182112" cy="1773927"/>
          </a:xfrm>
          <a:prstGeom xmlns:a="http://schemas.openxmlformats.org/drawingml/2006/main" prst="roundRect">
            <a:avLst>
              <a:gd name="adj" fmla="val 4902"/>
            </a:avLst>
          </a:prstGeom>
          <a:solidFill xmlns:a="http://schemas.openxmlformats.org/drawingml/2006/main">
            <a:srgbClr val="EDE0C4"/>
          </a:solidFill>
          <a:ln xmlns:a="http://schemas.openxmlformats.org/drawingml/2006/main" w="13970">
            <a:solidFill>
              <a:srgbClr val="B98738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2D43B7FC-C093-477F-BCDA-9BDA07FD4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1032" y="1563624"/>
            <a:ext cx="200253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73043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300" b="1">
                <a:solidFill>
                  <a:srgbClr val="2B2116"/>
                </a:solidFill>
                <a:latin typeface="PMingLiU"/>
                <a:ea typeface="PMingLiU"/>
                <a:cs typeface="PMingLiU"/>
              </a:rPr>
              <a:t>1｜停</a:t>
            </a:r>
            <a:endParaRPr sz="230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4782F9E3-7146-448C-88CA-12D35170E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7024" y="1720519"/>
            <a:ext cx="2461565" cy="99669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>
            <a:defPPr>
              <a:defRPr sz="1425"/>
            </a:defPPr>
          </a:lstStyle>
          <a:p xmlns:a="http://schemas.openxmlformats.org/drawingml/2006/main">
            <a:pPr marL="0" indent="0">
              <a:buNone/>
            </a:pPr>
            <a:r>
              <a:rPr sz="1425">
                <a:solidFill>
                  <a:srgbClr val="2B2116"/>
                </a:solidFill>
                <a:latin typeface="PMingLiU"/>
                <a:ea typeface="PMingLiU"/>
                <a:cs typeface="PMingLiU"/>
              </a:rPr>
              <a:t>不點連結、不匯款、不提供個資。</a:t>
            </a:r>
            <a:endParaRPr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D67DB12F-FEB2-444B-AC82-CCDFF6176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1417319"/>
            <a:ext cx="3182112" cy="1773927"/>
          </a:xfrm>
          <a:prstGeom xmlns:a="http://schemas.openxmlformats.org/drawingml/2006/main" prst="roundRect">
            <a:avLst>
              <a:gd name="adj" fmla="val 4902"/>
            </a:avLst>
          </a:prstGeom>
          <a:solidFill xmlns:a="http://schemas.openxmlformats.org/drawingml/2006/main">
            <a:srgbClr val="F5E8CF"/>
          </a:solidFill>
          <a:ln xmlns:a="http://schemas.openxmlformats.org/drawingml/2006/main" w="13970">
            <a:solidFill>
              <a:srgbClr val="556244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D4A210A1-DA25-4DFD-B090-94220A6BF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7072" y="1563624"/>
            <a:ext cx="200253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73043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300" b="1">
                <a:solidFill>
                  <a:srgbClr val="2B2116"/>
                </a:solidFill>
                <a:latin typeface="PMingLiU"/>
                <a:ea typeface="PMingLiU"/>
                <a:cs typeface="PMingLiU"/>
              </a:rPr>
              <a:t>2｜看</a:t>
            </a:r>
            <a:endParaRPr sz="230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D53F95D7-9F81-4FE9-8AFC-F750C384E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4212" y="1708644"/>
            <a:ext cx="2875788" cy="99669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>
            <a:defPPr>
              <a:defRPr sz="1350"/>
            </a:defPPr>
          </a:lstStyle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2B2116"/>
                </a:solidFill>
                <a:latin typeface="PMingLiU"/>
                <a:ea typeface="PMingLiU"/>
                <a:cs typeface="PMingLiU"/>
              </a:rPr>
              <a:t>圈出催促、金錢、個資、冒名、保密與陌生連結。</a:t>
            </a:r>
            <a:endParaRPr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EFFDFCC5-5BE3-467A-8CA0-D59295867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6440" y="2587751"/>
            <a:ext cx="3182112" cy="1773927"/>
          </a:xfrm>
          <a:prstGeom xmlns:a="http://schemas.openxmlformats.org/drawingml/2006/main" prst="roundRect">
            <a:avLst>
              <a:gd name="adj" fmla="val 4902"/>
            </a:avLst>
          </a:prstGeom>
          <a:solidFill xmlns:a="http://schemas.openxmlformats.org/drawingml/2006/main">
            <a:srgbClr val="EDE0C4"/>
          </a:solidFill>
          <a:ln xmlns:a="http://schemas.openxmlformats.org/drawingml/2006/main" w="13970">
            <a:solidFill>
              <a:srgbClr val="B98738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73BDBBC0-72AC-4652-9708-DB397B9A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1032" y="2734056"/>
            <a:ext cx="200253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73043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300" b="1">
                <a:solidFill>
                  <a:srgbClr val="2B2116"/>
                </a:solidFill>
                <a:latin typeface="PMingLiU"/>
                <a:ea typeface="PMingLiU"/>
                <a:cs typeface="PMingLiU"/>
              </a:rPr>
              <a:t>3｜問</a:t>
            </a:r>
            <a:endParaRPr sz="230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13110296-08B1-4C7B-A367-B6D37C8C8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5312" y="2879962"/>
            <a:ext cx="2420417" cy="99669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>
            <a:defPPr>
              <a:defRPr sz="1350"/>
            </a:defPPr>
          </a:lstStyle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2B2116"/>
                </a:solidFill>
                <a:latin typeface="PMingLiU"/>
                <a:ea typeface="PMingLiU"/>
                <a:cs typeface="PMingLiU"/>
              </a:rPr>
              <a:t>AI 產生三個問題，使用者先想再回答。</a:t>
            </a:r>
            <a:endParaRPr/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BA30C712-6099-4BD0-9E6A-E345BDAEA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2587751"/>
            <a:ext cx="3182112" cy="1773927"/>
          </a:xfrm>
          <a:prstGeom xmlns:a="http://schemas.openxmlformats.org/drawingml/2006/main" prst="roundRect">
            <a:avLst>
              <a:gd name="adj" fmla="val 4902"/>
            </a:avLst>
          </a:prstGeom>
          <a:solidFill xmlns:a="http://schemas.openxmlformats.org/drawingml/2006/main">
            <a:srgbClr val="F5E8CF"/>
          </a:solidFill>
          <a:ln xmlns:a="http://schemas.openxmlformats.org/drawingml/2006/main" w="13970">
            <a:solidFill>
              <a:srgbClr val="556244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18E41099-B2B2-4D87-965F-9091E2070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7072" y="2734056"/>
            <a:ext cx="200253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73043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300" b="1">
                <a:solidFill>
                  <a:srgbClr val="2B2116"/>
                </a:solidFill>
                <a:latin typeface="PMingLiU"/>
                <a:ea typeface="PMingLiU"/>
                <a:cs typeface="PMingLiU"/>
              </a:rPr>
              <a:t>4｜查</a:t>
            </a:r>
            <a:endParaRPr sz="2300"/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F480057A-18E8-4038-AC75-D6A6ED74D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4329" y="2869930"/>
            <a:ext cx="2875788" cy="99669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>
            <a:defPPr>
              <a:defRPr sz="1350"/>
            </a:defPPr>
          </a:lstStyle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2B2116"/>
                </a:solidFill>
                <a:latin typeface="PMingLiU"/>
                <a:ea typeface="PMingLiU"/>
                <a:cs typeface="PMingLiU"/>
              </a:rPr>
              <a:t>離開原訊息，改用官方 App、官網或電話確認。</a:t>
            </a:r>
            <a:endParaRPr/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F59FA1AC-6B5C-4863-9538-A647ED5E1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6440" y="3758183"/>
            <a:ext cx="3182112" cy="1773927"/>
          </a:xfrm>
          <a:prstGeom xmlns:a="http://schemas.openxmlformats.org/drawingml/2006/main" prst="roundRect">
            <a:avLst>
              <a:gd name="adj" fmla="val 4902"/>
            </a:avLst>
          </a:prstGeom>
          <a:solidFill xmlns:a="http://schemas.openxmlformats.org/drawingml/2006/main">
            <a:srgbClr val="EDE0C4"/>
          </a:solidFill>
          <a:ln xmlns:a="http://schemas.openxmlformats.org/drawingml/2006/main" w="13970">
            <a:solidFill>
              <a:srgbClr val="B98738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E9941CA4-0ACE-4FEE-9CA6-9573D3828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1032" y="3904488"/>
            <a:ext cx="200253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73043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300" b="1">
                <a:solidFill>
                  <a:srgbClr val="2B2116"/>
                </a:solidFill>
                <a:latin typeface="PMingLiU"/>
                <a:ea typeface="PMingLiU"/>
                <a:cs typeface="PMingLiU"/>
              </a:rPr>
              <a:t>5｜求</a:t>
            </a:r>
            <a:endParaRPr sz="2300"/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0EA336EA-4B15-4EF9-B508-DF6D817DC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5312" y="4086466"/>
            <a:ext cx="2420417" cy="99669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>
            <a:defPPr>
              <a:defRPr sz="1350"/>
            </a:defPPr>
          </a:lstStyle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2B2116"/>
                </a:solidFill>
                <a:latin typeface="PMingLiU"/>
                <a:ea typeface="PMingLiU"/>
                <a:cs typeface="PMingLiU"/>
              </a:rPr>
              <a:t>產生求助摘要，交給家人、老師或 165。</a:t>
            </a:r>
            <a:endParaRPr/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2FBF4149-90E6-437F-A1F5-D386B2DD2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3767327"/>
            <a:ext cx="3182112" cy="1773927"/>
          </a:xfrm>
          <a:prstGeom xmlns:a="http://schemas.openxmlformats.org/drawingml/2006/main" prst="roundRect">
            <a:avLst>
              <a:gd name="adj" fmla="val 4902"/>
            </a:avLst>
          </a:prstGeom>
          <a:solidFill xmlns:a="http://schemas.openxmlformats.org/drawingml/2006/main">
            <a:srgbClr val="F5E8CF"/>
          </a:solidFill>
          <a:ln xmlns:a="http://schemas.openxmlformats.org/drawingml/2006/main" w="13970">
            <a:solidFill>
              <a:srgbClr val="556244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DD9F07C2-A0F9-4DFF-9D85-A75BF5B58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7072" y="3913632"/>
            <a:ext cx="200253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73043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300" b="1">
                <a:solidFill>
                  <a:srgbClr val="2B2116"/>
                </a:solidFill>
                <a:latin typeface="PMingLiU"/>
                <a:ea typeface="PMingLiU"/>
                <a:cs typeface="PMingLiU"/>
              </a:rPr>
              <a:t>學習目標</a:t>
            </a:r>
            <a:endParaRPr sz="2300"/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394CA7DD-BFC1-4411-8247-B07C28745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4212" y="4235978"/>
            <a:ext cx="2784348" cy="99669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>
            <a:defPPr>
              <a:defRPr sz="1350"/>
            </a:defPPr>
          </a:lstStyle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2B2116"/>
                </a:solidFill>
                <a:latin typeface="PMingLiU"/>
                <a:ea typeface="PMingLiU"/>
                <a:cs typeface="PMingLiU"/>
              </a:rPr>
              <a:t>完成後能指出至少三個線索、提出三個問題並選擇安全行動。</a:t>
            </a:r>
            <a:endParaRPr/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CCF7DA08-7B5D-4E84-B4B3-6C8A328B1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06440"/>
            <a:ext cx="10835640" cy="41148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1E0BB"/>
          </a:solidFill>
          <a:ln xmlns:a="http://schemas.openxmlformats.org/drawingml/2006/main" w="13970">
            <a:solidFill>
              <a:srgbClr val="B98738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35C891BC-896F-4CF5-B6EB-C51047F1A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925312"/>
            <a:ext cx="104698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68571"/>
          </a:bodyPr>
          <a:lstStyle xmlns:a="http://schemas.openxmlformats.org/drawingml/2006/main">
            <a:defPPr>
              <a:defRPr sz="1575"/>
            </a:defPPr>
          </a:lstStyle>
          <a:p xmlns:a="http://schemas.openxmlformats.org/drawingml/2006/main">
            <a:pPr marL="0" indent="0" algn="ctr">
              <a:buNone/>
            </a:pPr>
            <a:r>
              <a:rPr sz="1575" b="1">
                <a:solidFill>
                  <a:srgbClr val="5A3A21"/>
                </a:solidFill>
                <a:latin typeface="PMingLiU"/>
                <a:ea typeface="PMingLiU"/>
                <a:cs typeface="PMingLiU"/>
              </a:rPr>
              <a:t>每次分析都是一題資訊素養練習，不只拿到真假答案。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138007040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628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F3A9298-6285-4D16-A79C-04B7AC68A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83D"/>
          </a:solidFill>
          <a:ln xmlns:a="http://schemas.openxmlformats.org/drawingml/2006/main" w="12700">
            <a:solidFill>
              <a:srgbClr val="16283D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D1E90039-2560-47EC-8792-DB24D3884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01168"/>
            <a:ext cx="11731752" cy="6446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83D"/>
          </a:solidFill>
          <a:ln xmlns:a="http://schemas.openxmlformats.org/drawingml/2006/main" w="15240">
            <a:solidFill>
              <a:srgbClr val="B98738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1CDC2CE5-232B-4EF4-A038-2E884DEB7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5488"/>
            <a:ext cx="111556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7BE7B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356B4351-31E7-4843-B997-73E7B85C5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82512"/>
            <a:ext cx="111556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7BE7B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FF34F2F9-B78F-4329-B221-6F51728C2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74320"/>
            <a:ext cx="3200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D7BE7B"/>
                </a:solidFill>
                <a:latin typeface="PMingLiU"/>
                <a:ea typeface="PMingLiU"/>
                <a:cs typeface="PMingLiU"/>
              </a:rPr>
              <a:t>✦</a:t>
            </a:r>
            <a:endParaRPr sz="16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FA62B0E6-EDE4-4BE7-9921-F842976BF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4592" y="274320"/>
            <a:ext cx="3200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D7BE7B"/>
                </a:solidFill>
                <a:latin typeface="PMingLiU"/>
                <a:ea typeface="PMingLiU"/>
                <a:cs typeface="PMingLiU"/>
              </a:rPr>
              <a:t>❧</a:t>
            </a:r>
            <a:endParaRPr sz="16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A7BCE784-6E60-4543-95C7-FFDA73A19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6327648"/>
            <a:ext cx="3200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D7BE7B"/>
                </a:solidFill>
                <a:latin typeface="PMingLiU"/>
                <a:ea typeface="PMingLiU"/>
                <a:cs typeface="PMingLiU"/>
              </a:rPr>
              <a:t>✦</a:t>
            </a:r>
            <a:endParaRPr sz="16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7811B437-15FC-435E-A158-C9E7BBE77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4592" y="6327648"/>
            <a:ext cx="3200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D7BE7B"/>
                </a:solidFill>
                <a:latin typeface="PMingLiU"/>
                <a:ea typeface="PMingLiU"/>
                <a:cs typeface="PMingLiU"/>
              </a:rPr>
              <a:t>❧</a:t>
            </a:r>
            <a:endParaRPr sz="16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72A96699-F5BA-486A-99DF-71A5CECED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73952"/>
            <a:ext cx="5486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D9C389"/>
                </a:solidFill>
                <a:latin typeface="PMingLiU"/>
                <a:ea typeface="PMingLiU"/>
                <a:cs typeface="PMingLiU"/>
              </a:rPr>
              <a:t>06</a:t>
            </a:r>
            <a:endParaRPr sz="9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C606270E-A083-4995-8D0A-C56509AAB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"/>
            <a:ext cx="75895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2550"/>
            </a:defPPr>
          </a:lstStyle>
          <a:p xmlns:a="http://schemas.openxmlformats.org/drawingml/2006/main">
            <a:pPr marL="0" indent="0">
              <a:buNone/>
            </a:pPr>
            <a:r>
              <a:rPr sz="2550" b="1">
                <a:solidFill>
                  <a:srgbClr val="FFFFFF"/>
                </a:solidFill>
                <a:latin typeface="PMingLiU"/>
                <a:ea typeface="PMingLiU"/>
                <a:cs typeface="PMingLiU"/>
              </a:rPr>
              <a:t>AI 安全管線：從輸入到可驗證回饋</a:t>
            </a:r>
            <a:endParaRPr sz="28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58F60310-B1BA-4BB0-9DBA-3AE5F4218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947965"/>
            <a:ext cx="80467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425"/>
            </a:defPPr>
          </a:lstStyle>
          <a:p xmlns:a="http://schemas.openxmlformats.org/drawingml/2006/main">
            <a:pPr marL="0" indent="0">
              <a:buNone/>
            </a:pPr>
            <a:r>
              <a:rPr sz="1425">
                <a:solidFill>
                  <a:srgbClr val="DACCA7"/>
                </a:solidFill>
                <a:latin typeface="PMingLiU"/>
                <a:ea typeface="PMingLiU"/>
                <a:cs typeface="PMingLiU"/>
              </a:rPr>
              <a:t>每一步都有保護、驗證與故障備援</a:t>
            </a:r>
            <a:endParaRPr sz="1500"/>
          </a:p>
        </p:txBody>
      </p:sp>
      <p:pic>
        <p:nvPicPr>
          <p:cNvPr id="13" name="Image 0">
            <a:extLst xmlns:a="http://schemas.openxmlformats.org/drawingml/2006/main">
              <a:ext uri="{FF2B5EF4-FFF2-40B4-BE49-F238E27FC236}">
                <a16:creationId xmlns:a16="http://schemas.microsoft.com/office/drawing/2014/main" id="{84DCEE78-4B5A-4417-90F9-D5AE120A90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1fb844be5f413d"/>
          <a:srcRect xmlns:a="http://schemas.openxmlformats.org/drawingml/2006/main" l="5000" t="5000" r="49379" b="20000"/>
          <a:stretch xmlns:a="http://schemas.openxmlformats.org/drawingml/2006/main"/>
        </p:blipFill>
        <p:spPr>
          <a:xfrm xmlns:a="http://schemas.openxmlformats.org/drawingml/2006/main">
            <a:off x="658368" y="1234440"/>
            <a:ext cx="4892040" cy="4526280"/>
          </a:xfrm>
          <a:prstGeom xmlns:a="http://schemas.openxmlformats.org/drawingml/2006/main" prst="rect">
            <a:avLst/>
          </a:prstGeom>
        </p:spPr>
      </p:pic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B0A15FF1-8043-4F27-85D9-CEA9EDE71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1828800"/>
            <a:ext cx="1143000" cy="233172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AD9B9"/>
          </a:solidFill>
          <a:ln xmlns:a="http://schemas.openxmlformats.org/drawingml/2006/main" w="13970">
            <a:solidFill>
              <a:srgbClr val="B98738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AC1A1BC7-CD73-44E1-85A5-2C903B93A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6752" y="2029968"/>
            <a:ext cx="914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2B2116"/>
                </a:solidFill>
                <a:latin typeface="PMingLiU"/>
                <a:ea typeface="PMingLiU"/>
                <a:cs typeface="PMingLiU"/>
              </a:rPr>
              <a:t>輸入</a:t>
            </a:r>
            <a:endParaRPr sz="220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96C9F38F-F966-420C-BE80-FF9072109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2560320"/>
            <a:ext cx="96012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>
            <a:defPPr>
              <a:defRPr sz="1425"/>
            </a:defPPr>
          </a:lstStyle>
          <a:p xmlns:a="http://schemas.openxmlformats.org/drawingml/2006/main">
            <a:pPr marL="0" indent="0" algn="ctr">
              <a:buNone/>
            </a:pPr>
            <a:r>
              <a:rPr sz="1425">
                <a:solidFill>
                  <a:srgbClr val="2B2116"/>
                </a:solidFill>
                <a:latin typeface="PMingLiU"/>
                <a:ea typeface="PMingLiU"/>
                <a:cs typeface="PMingLiU"/>
              </a:rPr>
              <a:t>只當待分析資料</a:t>
            </a:r>
            <a:endParaRPr sz="1520"/>
          </a:p>
          <a:p xmlns:a="http://schemas.openxmlformats.org/drawingml/2006/main">
            <a:pPr marL="0" indent="0" algn="ctr">
              <a:buNone/>
            </a:pPr>
            <a:r>
              <a:rPr sz="1425">
                <a:solidFill>
                  <a:srgbClr val="2B2116"/>
                </a:solidFill>
                <a:latin typeface="PMingLiU"/>
                <a:ea typeface="PMingLiU"/>
                <a:cs typeface="PMingLiU"/>
              </a:rPr>
              <a:t>不執行其中指令</a:t>
            </a:r>
            <a:endParaRPr sz="152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3C502F44-CE3E-4466-9183-9135C3C95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3448" y="2679192"/>
            <a:ext cx="384048" cy="310896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98738"/>
          </a:solidFill>
          <a:ln xmlns:a="http://schemas.openxmlformats.org/drawingml/2006/main" w="12700">
            <a:solidFill>
              <a:srgbClr val="B98738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29EBE0BC-C20C-4830-B214-E9673E2DA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828800"/>
            <a:ext cx="1143000" cy="233172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AD9B9"/>
          </a:solidFill>
          <a:ln xmlns:a="http://schemas.openxmlformats.org/drawingml/2006/main" w="13970">
            <a:solidFill>
              <a:srgbClr val="B98738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1C7C1944-34B3-4E4A-A8C2-B4690DE30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4072" y="2029968"/>
            <a:ext cx="914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2B2116"/>
                </a:solidFill>
                <a:latin typeface="PMingLiU"/>
                <a:ea typeface="PMingLiU"/>
                <a:cs typeface="PMingLiU"/>
              </a:rPr>
              <a:t>分析</a:t>
            </a:r>
            <a:endParaRPr sz="220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33AE608E-0EAF-4616-B226-50354708F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2560320"/>
            <a:ext cx="96012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>
            <a:defPPr>
              <a:defRPr sz="1350"/>
            </a:defPPr>
          </a:lstStyle>
          <a:p xmlns:a="http://schemas.openxmlformats.org/drawingml/2006/main">
            <a:pPr marL="0" indent="0" algn="ctr">
              <a:buNone/>
            </a:pPr>
            <a:r>
              <a:rPr sz="1350">
                <a:solidFill>
                  <a:srgbClr val="2B2116"/>
                </a:solidFill>
                <a:latin typeface="PMingLiU"/>
                <a:ea typeface="PMingLiU"/>
                <a:cs typeface="PMingLiU"/>
              </a:rPr>
              <a:t>個資遮罩＋匿名限流</a:t>
            </a:r>
            <a:endParaRPr sz="1520"/>
          </a:p>
          <a:p xmlns:a="http://schemas.openxmlformats.org/drawingml/2006/main">
            <a:pPr marL="0" indent="0" algn="ctr">
              <a:buNone/>
            </a:pPr>
            <a:r>
              <a:rPr sz="1350">
                <a:solidFill>
                  <a:srgbClr val="2B2116"/>
                </a:solidFill>
                <a:latin typeface="PMingLiU"/>
                <a:ea typeface="PMingLiU"/>
                <a:cs typeface="PMingLiU"/>
              </a:rPr>
              <a:t>OpenAI 或安全 Demo</a:t>
            </a:r>
            <a:endParaRPr sz="1520"/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B0521A75-751B-41D9-9DE1-2F978D068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0768" y="2679192"/>
            <a:ext cx="384048" cy="310896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98738"/>
          </a:solidFill>
          <a:ln xmlns:a="http://schemas.openxmlformats.org/drawingml/2006/main" w="12700">
            <a:solidFill>
              <a:srgbClr val="B98738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C5A0AD57-213B-4F17-A937-B17EB3756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1828800"/>
            <a:ext cx="1143000" cy="233172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AD9B9"/>
          </a:solidFill>
          <a:ln xmlns:a="http://schemas.openxmlformats.org/drawingml/2006/main" w="13970">
            <a:solidFill>
              <a:srgbClr val="B98738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CFAB9C1B-7A4C-4166-B786-CDC26D6EE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1392" y="2029968"/>
            <a:ext cx="914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2B2116"/>
                </a:solidFill>
                <a:latin typeface="PMingLiU"/>
                <a:ea typeface="PMingLiU"/>
                <a:cs typeface="PMingLiU"/>
              </a:rPr>
              <a:t>分級</a:t>
            </a:r>
            <a:endParaRPr sz="2200"/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0938DC9D-67A5-49A1-B59A-7441A2EC7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3960" y="2560320"/>
            <a:ext cx="96012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>
            <a:defPPr>
              <a:defRPr sz="1350"/>
            </a:defPPr>
          </a:lstStyle>
          <a:p xmlns:a="http://schemas.openxmlformats.org/drawingml/2006/main">
            <a:pPr marL="0" indent="0" algn="ctr">
              <a:buNone/>
            </a:pPr>
            <a:r>
              <a:rPr sz="1350">
                <a:solidFill>
                  <a:srgbClr val="2B2116"/>
                </a:solidFill>
                <a:latin typeface="PMingLiU"/>
                <a:ea typeface="PMingLiU"/>
                <a:cs typeface="PMingLiU"/>
              </a:rPr>
              <a:t>Strict JSON Schema</a:t>
            </a:r>
            <a:endParaRPr sz="1520"/>
          </a:p>
          <a:p xmlns:a="http://schemas.openxmlformats.org/drawingml/2006/main">
            <a:pPr marL="0" indent="0" algn="ctr">
              <a:buNone/>
            </a:pPr>
            <a:r>
              <a:rPr sz="1350">
                <a:solidFill>
                  <a:srgbClr val="2B2116"/>
                </a:solidFill>
                <a:latin typeface="PMingLiU"/>
                <a:ea typeface="PMingLiU"/>
                <a:cs typeface="PMingLiU"/>
              </a:rPr>
              <a:t>Zod 驗證與 unknown</a:t>
            </a:r>
            <a:endParaRPr sz="1520"/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2614C468-018C-46FE-8D7A-2DC57A86E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088" y="2679192"/>
            <a:ext cx="384048" cy="310896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98738"/>
          </a:solidFill>
          <a:ln xmlns:a="http://schemas.openxmlformats.org/drawingml/2006/main" w="12700">
            <a:solidFill>
              <a:srgbClr val="B98738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7C9E9E4E-9EFF-4CA7-8E78-1A8F67FB0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0" y="1828800"/>
            <a:ext cx="1143000" cy="233172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AD9B9"/>
          </a:solidFill>
          <a:ln xmlns:a="http://schemas.openxmlformats.org/drawingml/2006/main" w="13970">
            <a:solidFill>
              <a:srgbClr val="B98738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7A79DFD5-4C8F-4112-AE42-4C5611F9B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8712" y="2029968"/>
            <a:ext cx="914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2B2116"/>
                </a:solidFill>
                <a:latin typeface="PMingLiU"/>
                <a:ea typeface="PMingLiU"/>
                <a:cs typeface="PMingLiU"/>
              </a:rPr>
              <a:t>輸出</a:t>
            </a:r>
            <a:endParaRPr sz="2200"/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CE3A78D8-BEB1-4E9B-A2E7-A308D6D9B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0" y="2560320"/>
            <a:ext cx="96012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93014"/>
          </a:bodyPr>
          <a:lstStyle xmlns:a="http://schemas.openxmlformats.org/drawingml/2006/main">
            <a:defPPr>
              <a:defRPr sz="1350"/>
            </a:defPPr>
          </a:lstStyle>
          <a:p xmlns:a="http://schemas.openxmlformats.org/drawingml/2006/main">
            <a:pPr marL="0" indent="0" algn="ctr">
              <a:buNone/>
            </a:pPr>
            <a:r>
              <a:rPr sz="1350">
                <a:solidFill>
                  <a:srgbClr val="2B2116"/>
                </a:solidFill>
                <a:latin typeface="PMingLiU"/>
                <a:ea typeface="PMingLiU"/>
                <a:cs typeface="PMingLiU"/>
              </a:rPr>
              <a:t>線索、三問、行動、求助</a:t>
            </a:r>
            <a:endParaRPr sz="1520"/>
          </a:p>
          <a:p xmlns:a="http://schemas.openxmlformats.org/drawingml/2006/main">
            <a:pPr marL="0" indent="0" algn="ctr">
              <a:buNone/>
            </a:pPr>
            <a:r>
              <a:rPr sz="1350">
                <a:solidFill>
                  <a:srgbClr val="2B2116"/>
                </a:solidFill>
                <a:latin typeface="PMingLiU"/>
                <a:ea typeface="PMingLiU"/>
                <a:cs typeface="PMingLiU"/>
              </a:rPr>
              <a:t>固定免責聲明</a:t>
            </a:r>
            <a:endParaRPr sz="1520"/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10CDC6FF-456B-4EF3-8A68-0A9C1AD20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4480559"/>
            <a:ext cx="5212080" cy="1060705"/>
          </a:xfrm>
          <a:prstGeom xmlns:a="http://schemas.openxmlformats.org/drawingml/2006/main" prst="roundRect">
            <a:avLst>
              <a:gd name="adj" fmla="val 5682"/>
            </a:avLst>
          </a:prstGeom>
          <a:solidFill xmlns:a="http://schemas.openxmlformats.org/drawingml/2006/main">
            <a:srgbClr val="24364D"/>
          </a:solidFill>
          <a:ln xmlns:a="http://schemas.openxmlformats.org/drawingml/2006/main" w="13970">
            <a:solidFill>
              <a:srgbClr val="D7BE7B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A5009851-95E8-4123-ACC4-404A5DF70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912" y="4626864"/>
            <a:ext cx="488289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8824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F4E5BC"/>
                </a:solidFill>
                <a:latin typeface="PMingLiU"/>
                <a:ea typeface="PMingLiU"/>
                <a:cs typeface="PMingLiU"/>
              </a:rPr>
              <a:t>失敗處理</a:t>
            </a:r>
            <a:endParaRPr sz="1700"/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30ABBF4D-47C9-4971-A61B-B5CA943EA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912" y="5101661"/>
            <a:ext cx="4882896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64075"/>
          </a:bodyPr>
          <a:lstStyle xmlns:a="http://schemas.openxmlformats.org/drawingml/2006/main">
            <a:defPPr>
              <a:defRPr sz="1350"/>
            </a:defPPr>
          </a:lstStyle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F4E5BC"/>
                </a:solidFill>
                <a:latin typeface="PMingLiU"/>
                <a:ea typeface="PMingLiU"/>
                <a:cs typeface="PMingLiU"/>
              </a:rPr>
              <a:t>20 秒逾時、API 額度或斷網失敗時，明確切換安全 Demo；不開啟陌生網址，也不永久保存原始訊息。</a:t>
            </a:r>
            <a:endParaRPr sz="1500"/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4CBA3EDD-8854-43A0-AF65-1D126005D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06440"/>
            <a:ext cx="10835640" cy="41148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20344D"/>
          </a:solidFill>
          <a:ln xmlns:a="http://schemas.openxmlformats.org/drawingml/2006/main" w="13970">
            <a:solidFill>
              <a:srgbClr val="D7BE7B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4E3D8B02-44FE-4CB2-B9EF-F07CC2633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925312"/>
            <a:ext cx="104698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68571"/>
          </a:bodyPr>
          <a:lstStyle xmlns:a="http://schemas.openxmlformats.org/drawingml/2006/main">
            <a:defPPr>
              <a:defRPr sz="1575"/>
            </a:defPPr>
          </a:lstStyle>
          <a:p xmlns:a="http://schemas.openxmlformats.org/drawingml/2006/main">
            <a:pPr marL="0" indent="0" algn="ctr">
              <a:buNone/>
            </a:pPr>
            <a:r>
              <a:rPr sz="1575" b="1">
                <a:solidFill>
                  <a:srgbClr val="F4E5BC"/>
                </a:solidFill>
                <a:latin typeface="PMingLiU"/>
                <a:ea typeface="PMingLiU"/>
                <a:cs typeface="PMingLiU"/>
              </a:rPr>
              <a:t>API Key 只留在伺服器；畫面清楚標示即時 AI 或安全 Demo。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74972619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EED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B0F180A-DA78-4B14-B379-B8BBEA7CF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EDC"/>
          </a:solidFill>
          <a:ln xmlns:a="http://schemas.openxmlformats.org/drawingml/2006/main" w="12700">
            <a:solidFill>
              <a:srgbClr val="F6EEDC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56A0680-B4EC-43F8-85DD-DAB5F3243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01168"/>
            <a:ext cx="11731752" cy="6446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EDB"/>
          </a:solidFill>
          <a:ln xmlns:a="http://schemas.openxmlformats.org/drawingml/2006/main" w="15240">
            <a:solidFill>
              <a:srgbClr val="7B552E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9BB75890-AEA5-4D84-974D-F967FAC95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5488"/>
            <a:ext cx="111556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B98738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8587EE62-A1AA-4129-929A-3E17A028D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82512"/>
            <a:ext cx="111556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B98738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E1F3616-AF1E-414A-8A36-0B74E8139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74320"/>
            <a:ext cx="3200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7B552E"/>
                </a:solidFill>
                <a:latin typeface="PMingLiU"/>
                <a:ea typeface="PMingLiU"/>
                <a:cs typeface="PMingLiU"/>
              </a:rPr>
              <a:t>✦</a:t>
            </a:r>
            <a:endParaRPr sz="16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99E2E1B-E107-4A77-B67C-1BB807FE8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4592" y="274320"/>
            <a:ext cx="3200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7B552E"/>
                </a:solidFill>
                <a:latin typeface="PMingLiU"/>
                <a:ea typeface="PMingLiU"/>
                <a:cs typeface="PMingLiU"/>
              </a:rPr>
              <a:t>❧</a:t>
            </a:r>
            <a:endParaRPr sz="16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5ED24A5B-F51B-4D77-9137-CC5150794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6327648"/>
            <a:ext cx="3200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7B552E"/>
                </a:solidFill>
                <a:latin typeface="PMingLiU"/>
                <a:ea typeface="PMingLiU"/>
                <a:cs typeface="PMingLiU"/>
              </a:rPr>
              <a:t>✦</a:t>
            </a:r>
            <a:endParaRPr sz="16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F9433455-F322-438A-A2B9-6689ACA56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4592" y="6327648"/>
            <a:ext cx="3200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7B552E"/>
                </a:solidFill>
                <a:latin typeface="PMingLiU"/>
                <a:ea typeface="PMingLiU"/>
                <a:cs typeface="PMingLiU"/>
              </a:rPr>
              <a:t>❧</a:t>
            </a:r>
            <a:endParaRPr sz="16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1F62817B-A3FC-4BCA-9AE4-8ACD02937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73952"/>
            <a:ext cx="5486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D5A3A"/>
                </a:solidFill>
                <a:latin typeface="PMingLiU"/>
                <a:ea typeface="PMingLiU"/>
                <a:cs typeface="PMingLiU"/>
              </a:rPr>
              <a:t>07</a:t>
            </a:r>
            <a:endParaRPr sz="9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6847433C-3005-4537-A1FC-3FFE05A2C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"/>
            <a:ext cx="75895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2400"/>
            </a:defPPr>
          </a:lstStyle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2B2116"/>
                </a:solidFill>
                <a:latin typeface="PMingLiU"/>
                <a:ea typeface="PMingLiU"/>
                <a:cs typeface="PMingLiU"/>
              </a:rPr>
              <a:t>AI 技術實作：結構化輸出、遮罩與不確定性</a:t>
            </a:r>
            <a:endParaRPr sz="28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8DE82D12-A0A7-43AD-9721-568A52044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005840"/>
            <a:ext cx="80467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350"/>
            </a:defPPr>
          </a:lstStyle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796A4B"/>
                </a:solidFill>
                <a:latin typeface="PMingLiU"/>
                <a:ea typeface="PMingLiU"/>
                <a:cs typeface="PMingLiU"/>
              </a:rPr>
              <a:t>評審可以在網站直接檢查，不只停在概念</a:t>
            </a:r>
            <a:endParaRPr sz="1500"/>
          </a:p>
        </p:txBody>
      </p:sp>
      <p:pic>
        <p:nvPicPr>
          <p:cNvPr id="13" name="Image 0">
            <a:extLst xmlns:a="http://schemas.openxmlformats.org/drawingml/2006/main">
              <a:ext uri="{FF2B5EF4-FFF2-40B4-BE49-F238E27FC236}">
                <a16:creationId xmlns:a16="http://schemas.microsoft.com/office/drawing/2014/main" id="{177FF77D-88EF-4282-BD07-99CC12875CD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fb6aace44c4d7f"/>
          <a:srcRect xmlns:a="http://schemas.openxmlformats.org/drawingml/2006/main" l="0" t="0" r="0" b="45000"/>
          <a:stretch xmlns:a="http://schemas.openxmlformats.org/drawingml/2006/main"/>
        </p:blipFill>
        <p:spPr>
          <a:xfrm xmlns:a="http://schemas.openxmlformats.org/drawingml/2006/main" flipH="0" flipV="0">
            <a:off x="777240" y="1325880"/>
            <a:ext cx="4343400" cy="4069080"/>
          </a:xfrm>
          <a:prstGeom xmlns:a="http://schemas.openxmlformats.org/drawingml/2006/main" prst="rect">
            <a:avLst/>
          </a:prstGeom>
        </p:spPr>
      </p:pic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F73DD5DD-A46A-422B-843E-2A65F39BD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1325880"/>
            <a:ext cx="2560320" cy="1252728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7EBD1"/>
          </a:solidFill>
          <a:ln xmlns:a="http://schemas.openxmlformats.org/drawingml/2006/main" w="13970">
            <a:solidFill>
              <a:srgbClr val="B98738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2F0DED11-53E8-44FD-B01B-1F209EED3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6712" y="1472184"/>
            <a:ext cx="223113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8824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2B2116"/>
                </a:solidFill>
                <a:latin typeface="PMingLiU"/>
                <a:ea typeface="PMingLiU"/>
                <a:cs typeface="PMingLiU"/>
              </a:rPr>
              <a:t>A｜敏感資料遮罩</a:t>
            </a:r>
            <a:endParaRPr sz="170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4D26950A-66CF-4953-B69A-D5D3CA33C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6712" y="1819656"/>
            <a:ext cx="2231136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99876"/>
          </a:bodyPr>
          <a:lstStyle xmlns:a="http://schemas.openxmlformats.org/drawingml/2006/main">
            <a:defPPr>
              <a:defRPr sz="1350"/>
            </a:defPPr>
          </a:lstStyle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2B2116"/>
                </a:solidFill>
                <a:latin typeface="PMingLiU"/>
                <a:ea typeface="PMingLiU"/>
                <a:cs typeface="PMingLiU"/>
              </a:rPr>
              <a:t>電話、Email、帳號、信用卡與 OTP 先遮罩。</a:t>
            </a:r>
            <a:endParaRPr sz="150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349D08EF-CC34-4FE4-86EC-000E5682D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325880"/>
            <a:ext cx="2560320" cy="1252728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7EBD1"/>
          </a:solidFill>
          <a:ln xmlns:a="http://schemas.openxmlformats.org/drawingml/2006/main" w="13970">
            <a:solidFill>
              <a:srgbClr val="B98738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A7654866-CCC5-4A06-83D0-288987BFE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2792" y="1472184"/>
            <a:ext cx="223113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8824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2B2116"/>
                </a:solidFill>
                <a:latin typeface="PMingLiU"/>
                <a:ea typeface="PMingLiU"/>
                <a:cs typeface="PMingLiU"/>
              </a:rPr>
              <a:t>B｜Structured Output</a:t>
            </a:r>
            <a:endParaRPr sz="170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A60B369C-E6F6-4BF1-9D88-5AB52FF63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2792" y="1819656"/>
            <a:ext cx="2231136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70501"/>
          </a:bodyPr>
          <a:lstStyle xmlns:a="http://schemas.openxmlformats.org/drawingml/2006/main">
            <a:defPPr>
              <a:defRPr sz="1275"/>
            </a:defPPr>
          </a:lstStyle>
          <a:p xmlns:a="http://schemas.openxmlformats.org/drawingml/2006/main">
            <a:pPr marL="0" indent="0">
              <a:buNone/>
            </a:pPr>
            <a:r>
              <a:rPr sz="1275">
                <a:solidFill>
                  <a:srgbClr val="2B2116"/>
                </a:solidFill>
                <a:latin typeface="PMingLiU"/>
                <a:ea typeface="PMingLiU"/>
                <a:cs typeface="PMingLiU"/>
              </a:rPr>
              <a:t>固定 Schema：等級、證據片段、三問、行動與求助摘要。</a:t>
            </a:r>
            <a:endParaRPr sz="1500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E3322861-6C67-49D1-BF0D-59CB86855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2743200"/>
            <a:ext cx="2560320" cy="1252728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7EBD1"/>
          </a:solidFill>
          <a:ln xmlns:a="http://schemas.openxmlformats.org/drawingml/2006/main" w="13970">
            <a:solidFill>
              <a:srgbClr val="B98738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2FC1BDB9-6E05-4D5D-8367-EB7ECC3DE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6712" y="2889504"/>
            <a:ext cx="223113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8824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2B2116"/>
                </a:solidFill>
                <a:latin typeface="PMingLiU"/>
                <a:ea typeface="PMingLiU"/>
                <a:cs typeface="PMingLiU"/>
              </a:rPr>
              <a:t>C｜不確定性</a:t>
            </a:r>
            <a:endParaRPr sz="170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871F0639-74FC-40CB-840C-B88527951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6712" y="3329576"/>
            <a:ext cx="2231136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70501"/>
          </a:bodyPr>
          <a:lstStyle xmlns:a="http://schemas.openxmlformats.org/drawingml/2006/main">
            <a:defPPr>
              <a:defRPr sz="1275"/>
            </a:defPPr>
          </a:lstStyle>
          <a:p xmlns:a="http://schemas.openxmlformats.org/drawingml/2006/main">
            <a:pPr marL="0" indent="0">
              <a:buNone/>
            </a:pPr>
            <a:r>
              <a:rPr sz="1275">
                <a:solidFill>
                  <a:srgbClr val="2B2116"/>
                </a:solidFill>
                <a:latin typeface="PMingLiU"/>
                <a:ea typeface="PMingLiU"/>
                <a:cs typeface="PMingLiU"/>
              </a:rPr>
              <a:t>證據不足輸出 unknown；禁止「一定安全」或「一定是詐騙」。</a:t>
            </a:r>
            <a:endParaRPr sz="1500"/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A8ADAD1B-90D2-436D-AC51-0B8E7D3EA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743200"/>
            <a:ext cx="2560320" cy="1252728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7EBD1"/>
          </a:solidFill>
          <a:ln xmlns:a="http://schemas.openxmlformats.org/drawingml/2006/main" w="13970">
            <a:solidFill>
              <a:srgbClr val="B98738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19C00964-A6FF-4EDE-B978-E75DF78AC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2792" y="2889504"/>
            <a:ext cx="223113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8824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2B2116"/>
                </a:solidFill>
                <a:latin typeface="PMingLiU"/>
                <a:ea typeface="PMingLiU"/>
                <a:cs typeface="PMingLiU"/>
              </a:rPr>
              <a:t>D｜錯誤備援</a:t>
            </a:r>
            <a:endParaRPr sz="1700"/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08F71CFE-FDC5-4F5B-9A13-1AB47ECFD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2792" y="3306426"/>
            <a:ext cx="2231136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70501"/>
          </a:bodyPr>
          <a:lstStyle xmlns:a="http://schemas.openxmlformats.org/drawingml/2006/main">
            <a:defPPr>
              <a:defRPr sz="1275"/>
            </a:defPPr>
          </a:lstStyle>
          <a:p xmlns:a="http://schemas.openxmlformats.org/drawingml/2006/main">
            <a:pPr marL="0" indent="0">
              <a:buNone/>
            </a:pPr>
            <a:r>
              <a:rPr sz="1275">
                <a:solidFill>
                  <a:srgbClr val="2B2116"/>
                </a:solidFill>
                <a:latin typeface="PMingLiU"/>
                <a:ea typeface="PMingLiU"/>
                <a:cs typeface="PMingLiU"/>
              </a:rPr>
              <a:t>Schema 不合、逾時、額度不足或斷網時，回到安全 Demo。</a:t>
            </a:r>
            <a:endParaRPr sz="1500"/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7FB066F7-4EFC-4936-9F70-FE9E23B40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4276847"/>
            <a:ext cx="5486400" cy="1115223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EFE0BD"/>
          </a:solidFill>
          <a:ln xmlns:a="http://schemas.openxmlformats.org/drawingml/2006/main" w="13970">
            <a:solidFill>
              <a:srgbClr val="556244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86670230-794B-425F-A6FD-FFBF585ED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066" y="4423152"/>
            <a:ext cx="515721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8824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2B2116"/>
                </a:solidFill>
                <a:latin typeface="PMingLiU"/>
                <a:ea typeface="PMingLiU"/>
                <a:cs typeface="PMingLiU"/>
              </a:rPr>
              <a:t>Prompt Injection 防護</a:t>
            </a:r>
            <a:endParaRPr sz="1700"/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7306AD8A-6307-4F65-BF87-2F2245851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066" y="4770624"/>
            <a:ext cx="515721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>
            <a:defPPr>
              <a:defRPr sz="1350"/>
            </a:defPPr>
          </a:lstStyle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2B2116"/>
                </a:solidFill>
                <a:latin typeface="PMingLiU"/>
                <a:ea typeface="PMingLiU"/>
                <a:cs typeface="PMingLiU"/>
              </a:rPr>
              <a:t>訊息只被視為資料；其中即使要求忽略規則，也不執行。</a:t>
            </a:r>
            <a:endParaRPr sz="1500"/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C4AE37F3-C2D2-49D7-A93A-33C293213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06440"/>
            <a:ext cx="10835640" cy="41148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1E0BB"/>
          </a:solidFill>
          <a:ln xmlns:a="http://schemas.openxmlformats.org/drawingml/2006/main" w="13970">
            <a:solidFill>
              <a:srgbClr val="B98738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3705D016-D4CD-4691-9C1B-D350B2CC8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925312"/>
            <a:ext cx="104698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72000"/>
          </a:bodyPr>
          <a:lstStyle xmlns:a="http://schemas.openxmlformats.org/drawingml/2006/main">
            <a:defPPr>
              <a:defRPr sz="1500"/>
            </a:defPPr>
          </a:lstStyle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5A3A21"/>
                </a:solidFill>
                <a:latin typeface="PMingLiU"/>
                <a:ea typeface="PMingLiU"/>
                <a:cs typeface="PMingLiU"/>
              </a:rPr>
              <a:t>AI 解釋風險並教學，不替警方、金融機構或法律定論。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136853487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EED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7E3F716-242E-47C4-ABED-B3E29E8AE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EDC"/>
          </a:solidFill>
          <a:ln xmlns:a="http://schemas.openxmlformats.org/drawingml/2006/main" w="12700">
            <a:solidFill>
              <a:srgbClr val="F6EEDC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B3408CFE-ABD9-4A7E-ACB6-D5E4DE3A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01168"/>
            <a:ext cx="11731752" cy="6446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EDB"/>
          </a:solidFill>
          <a:ln xmlns:a="http://schemas.openxmlformats.org/drawingml/2006/main" w="15240">
            <a:solidFill>
              <a:srgbClr val="7B552E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B1391AF2-161F-4EBF-8D35-A9B22193F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5488"/>
            <a:ext cx="111556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B98738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C3C1334A-A4CD-4D3D-A244-7BD1D2D16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82512"/>
            <a:ext cx="111556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B98738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8AF316E-1C26-4CAC-8288-C02DA1FD6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74320"/>
            <a:ext cx="3200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7B552E"/>
                </a:solidFill>
                <a:latin typeface="PMingLiU"/>
                <a:ea typeface="PMingLiU"/>
                <a:cs typeface="PMingLiU"/>
              </a:rPr>
              <a:t>✦</a:t>
            </a:r>
            <a:endParaRPr sz="16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BBC9F50-AD2E-4BBE-BB88-931E90F81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4592" y="274320"/>
            <a:ext cx="3200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7B552E"/>
                </a:solidFill>
                <a:latin typeface="PMingLiU"/>
                <a:ea typeface="PMingLiU"/>
                <a:cs typeface="PMingLiU"/>
              </a:rPr>
              <a:t>❧</a:t>
            </a:r>
            <a:endParaRPr sz="16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D14D90A-1B10-4EFC-80C8-2EA1234B8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6327648"/>
            <a:ext cx="3200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7B552E"/>
                </a:solidFill>
                <a:latin typeface="PMingLiU"/>
                <a:ea typeface="PMingLiU"/>
                <a:cs typeface="PMingLiU"/>
              </a:rPr>
              <a:t>✦</a:t>
            </a:r>
            <a:endParaRPr sz="16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F126111B-44FA-4F59-BB3C-638FB7D6E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4592" y="6327648"/>
            <a:ext cx="3200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7B552E"/>
                </a:solidFill>
                <a:latin typeface="PMingLiU"/>
                <a:ea typeface="PMingLiU"/>
                <a:cs typeface="PMingLiU"/>
              </a:rPr>
              <a:t>❧</a:t>
            </a:r>
            <a:endParaRPr sz="16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9D2EAF37-24FA-4A47-8842-C2701B84D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73952"/>
            <a:ext cx="5486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D5A3A"/>
                </a:solidFill>
                <a:latin typeface="PMingLiU"/>
                <a:ea typeface="PMingLiU"/>
                <a:cs typeface="PMingLiU"/>
              </a:rPr>
              <a:t>08</a:t>
            </a:r>
            <a:endParaRPr sz="9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3740309C-C6CA-4D13-9157-CBC333D64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"/>
            <a:ext cx="75895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2400"/>
            </a:defPPr>
          </a:lstStyle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2B2116"/>
                </a:solidFill>
                <a:latin typeface="PMingLiU"/>
                <a:ea typeface="PMingLiU"/>
                <a:cs typeface="PMingLiU"/>
              </a:rPr>
              <a:t>正式 Demo：八步完成一場 4.5 分鐘展示</a:t>
            </a:r>
            <a:endParaRPr sz="28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2D58787E-F46C-486B-9C35-440B8D7A0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005840"/>
            <a:ext cx="80467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350"/>
            </a:defPPr>
          </a:lstStyle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796A4B"/>
                </a:solidFill>
                <a:latin typeface="PMingLiU"/>
                <a:ea typeface="PMingLiU"/>
                <a:cs typeface="PMingLiU"/>
              </a:rPr>
              <a:t>公開網站、手機版與單檔離線備援都可操作</a:t>
            </a:r>
            <a:endParaRPr sz="150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D99BA138-C531-46D6-B4D0-1FDFF9CFD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417320"/>
            <a:ext cx="3154680" cy="3456432"/>
          </a:xfrm>
          <a:prstGeom xmlns:a="http://schemas.openxmlformats.org/drawingml/2006/main" prst="roundRect">
            <a:avLst>
              <a:gd name="adj" fmla="val 1449"/>
            </a:avLst>
          </a:prstGeom>
          <a:solidFill xmlns:a="http://schemas.openxmlformats.org/drawingml/2006/main">
            <a:srgbClr val="FDF3D9"/>
          </a:solidFill>
          <a:ln xmlns:a="http://schemas.openxmlformats.org/drawingml/2006/main" w="13970">
            <a:solidFill>
              <a:srgbClr val="B98738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B0A3F970-BCDA-4C56-AAA4-1AC828303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4752" y="1664208"/>
            <a:ext cx="1920240" cy="27432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1B2F48"/>
          </a:solidFill>
          <a:ln xmlns:a="http://schemas.openxmlformats.org/drawingml/2006/main" w="13970">
            <a:solidFill>
              <a:srgbClr val="D7BE7B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1AA40B45-C7DA-40CC-A570-8C2F79C24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3352" y="2514600"/>
            <a:ext cx="1463040" cy="4572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FE0BD"/>
          </a:solidFill>
          <a:ln xmlns:a="http://schemas.openxmlformats.org/drawingml/2006/main" w="12700">
            <a:solidFill>
              <a:srgbClr val="EFE0BD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BDF33F59-DA69-43F6-9415-88B0EF1C5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3352" y="3246120"/>
            <a:ext cx="1463040" cy="4572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FE0BD"/>
          </a:solidFill>
          <a:ln xmlns:a="http://schemas.openxmlformats.org/drawingml/2006/main" w="12700">
            <a:solidFill>
              <a:srgbClr val="EFE0BD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5259C177-AE7C-46CC-A92F-1E0306987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5010912"/>
            <a:ext cx="27889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83200"/>
          </a:bodyPr>
          <a:lstStyle xmlns:a="http://schemas.openxmlformats.org/drawingml/2006/main">
            <a:defPPr>
              <a:defRPr sz="1875"/>
            </a:defPPr>
          </a:lstStyle>
          <a:p xmlns:a="http://schemas.openxmlformats.org/drawingml/2006/main">
            <a:pPr marL="0" indent="0" algn="ctr">
              <a:buNone/>
            </a:pPr>
            <a:r>
              <a:rPr sz="1875" b="1">
                <a:solidFill>
                  <a:srgbClr val="2B2116"/>
                </a:solidFill>
                <a:latin typeface="PMingLiU"/>
                <a:ea typeface="PMingLiU"/>
                <a:cs typeface="PMingLiU"/>
              </a:rPr>
              <a:t>1｜問題與訊息</a:t>
            </a:r>
            <a:endParaRPr sz="22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8D625556-C6C7-4201-9047-F1DF75A24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340096"/>
            <a:ext cx="31546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200"/>
            </a:defPPr>
          </a:lstStyle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2B2116"/>
                </a:solidFill>
                <a:latin typeface="PMingLiU"/>
                <a:ea typeface="PMingLiU"/>
                <a:cs typeface="PMingLiU"/>
              </a:rPr>
              <a:t>一鍵載入合成案例，清楚標示安全 Demo</a:t>
            </a:r>
            <a:endParaRPr sz="150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31417ADF-7B07-4E87-AD27-718ADA1E3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3360" y="2926080"/>
            <a:ext cx="402336" cy="402336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B552E"/>
          </a:solidFill>
          <a:ln xmlns:a="http://schemas.openxmlformats.org/drawingml/2006/main" w="12700">
            <a:solidFill>
              <a:srgbClr val="7B552E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8DD3D69D-0C63-45D9-AC44-6678FED7B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1417320"/>
            <a:ext cx="3154680" cy="3456432"/>
          </a:xfrm>
          <a:prstGeom xmlns:a="http://schemas.openxmlformats.org/drawingml/2006/main" prst="roundRect">
            <a:avLst>
              <a:gd name="adj" fmla="val 1449"/>
            </a:avLst>
          </a:prstGeom>
          <a:solidFill xmlns:a="http://schemas.openxmlformats.org/drawingml/2006/main">
            <a:srgbClr val="FDF3D9"/>
          </a:solidFill>
          <a:ln xmlns:a="http://schemas.openxmlformats.org/drawingml/2006/main" w="13970">
            <a:solidFill>
              <a:srgbClr val="B98738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1B8431B9-4974-4390-BF77-B05588812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8072" y="1664208"/>
            <a:ext cx="1920240" cy="27432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1B2F48"/>
          </a:solidFill>
          <a:ln xmlns:a="http://schemas.openxmlformats.org/drawingml/2006/main" w="13970">
            <a:solidFill>
              <a:srgbClr val="D7BE7B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19F33BE1-EE5B-4EAD-9B10-313EB080C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499" y="1970532"/>
            <a:ext cx="1463040" cy="32004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D8B45B"/>
          </a:solidFill>
          <a:ln xmlns:a="http://schemas.openxmlformats.org/drawingml/2006/main" w="12700">
            <a:solidFill>
              <a:srgbClr val="EAD9B9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4269B4CC-5D7E-496B-955F-5D4834CAD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6672" y="2514600"/>
            <a:ext cx="1463040" cy="4572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9B5631"/>
          </a:solidFill>
          <a:ln xmlns:a="http://schemas.openxmlformats.org/drawingml/2006/main" w="12700">
            <a:solidFill>
              <a:srgbClr val="EFE0BD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74799A85-0DF3-40DE-9107-BE8CAA04F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6672" y="3246120"/>
            <a:ext cx="1463040" cy="4572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FE0BD"/>
          </a:solidFill>
          <a:ln xmlns:a="http://schemas.openxmlformats.org/drawingml/2006/main" w="12700">
            <a:solidFill>
              <a:srgbClr val="EFE0BD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271D34DF-F6B9-48CB-8CB3-06D5FBA42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0872" y="5010912"/>
            <a:ext cx="27889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83200"/>
          </a:bodyPr>
          <a:lstStyle xmlns:a="http://schemas.openxmlformats.org/drawingml/2006/main">
            <a:defPPr>
              <a:defRPr sz="1875"/>
            </a:defPPr>
          </a:lstStyle>
          <a:p xmlns:a="http://schemas.openxmlformats.org/drawingml/2006/main">
            <a:pPr marL="0" indent="0" algn="ctr">
              <a:buNone/>
            </a:pPr>
            <a:r>
              <a:rPr sz="1875" b="1">
                <a:solidFill>
                  <a:srgbClr val="2B2116"/>
                </a:solidFill>
                <a:latin typeface="PMingLiU"/>
                <a:ea typeface="PMingLiU"/>
                <a:cs typeface="PMingLiU"/>
              </a:rPr>
              <a:t>2｜看、問、查、求</a:t>
            </a:r>
            <a:endParaRPr sz="22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583EC7E9-6A32-4B9A-9C8E-4994F72AE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424" y="5340096"/>
            <a:ext cx="3145536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200"/>
            </a:defPPr>
          </a:lstStyle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2B2116"/>
                </a:solidFill>
                <a:latin typeface="PMingLiU"/>
                <a:ea typeface="PMingLiU"/>
                <a:cs typeface="PMingLiU"/>
              </a:rPr>
              <a:t>線索、三問、安全行動與求助卡</a:t>
            </a:r>
            <a:endParaRPr sz="150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BC9FAF1C-FBCC-4A17-BB28-440F7CBDC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680" y="2926080"/>
            <a:ext cx="402336" cy="402336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B552E"/>
          </a:solidFill>
          <a:ln xmlns:a="http://schemas.openxmlformats.org/drawingml/2006/main" w="12700">
            <a:solidFill>
              <a:srgbClr val="7B552E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A2A66AC8-8A3E-4879-BA86-1612614D5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417320"/>
            <a:ext cx="3154680" cy="3456432"/>
          </a:xfrm>
          <a:prstGeom xmlns:a="http://schemas.openxmlformats.org/drawingml/2006/main" prst="roundRect">
            <a:avLst>
              <a:gd name="adj" fmla="val 1449"/>
            </a:avLst>
          </a:prstGeom>
          <a:solidFill xmlns:a="http://schemas.openxmlformats.org/drawingml/2006/main">
            <a:srgbClr val="FDF3D9"/>
          </a:solidFill>
          <a:ln xmlns:a="http://schemas.openxmlformats.org/drawingml/2006/main" w="13970">
            <a:solidFill>
              <a:srgbClr val="B98738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125E4A5D-FF3D-4014-8E0F-4C64EC215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1392" y="1664208"/>
            <a:ext cx="1920240" cy="27432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1B2F48"/>
          </a:solidFill>
          <a:ln xmlns:a="http://schemas.openxmlformats.org/drawingml/2006/main" w="13970">
            <a:solidFill>
              <a:srgbClr val="D7BE7B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3153A3C8-DF73-497E-891F-10FB439BB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9992" y="1965960"/>
            <a:ext cx="1463040" cy="32004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D9B9"/>
          </a:solidFill>
          <a:ln xmlns:a="http://schemas.openxmlformats.org/drawingml/2006/main" w="12700">
            <a:solidFill>
              <a:srgbClr val="EAD9B9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A9B3F6E2-BE56-4F6F-BCFF-F403011E7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9992" y="2514600"/>
            <a:ext cx="1463040" cy="4572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FE0BD"/>
          </a:solidFill>
          <a:ln xmlns:a="http://schemas.openxmlformats.org/drawingml/2006/main" w="12700">
            <a:solidFill>
              <a:srgbClr val="EFE0BD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C9DE6950-FAE6-43EB-B19A-4F63986EB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9992" y="3246120"/>
            <a:ext cx="1463040" cy="4572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556244"/>
          </a:solidFill>
          <a:ln xmlns:a="http://schemas.openxmlformats.org/drawingml/2006/main" w="12700">
            <a:solidFill>
              <a:srgbClr val="EFE0BD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C81992E9-9D19-486B-AA3A-C8D115C14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5010912"/>
            <a:ext cx="27889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83200"/>
          </a:bodyPr>
          <a:lstStyle xmlns:a="http://schemas.openxmlformats.org/drawingml/2006/main">
            <a:defPPr>
              <a:defRPr sz="1875"/>
            </a:defPPr>
          </a:lstStyle>
          <a:p xmlns:a="http://schemas.openxmlformats.org/drawingml/2006/main">
            <a:pPr marL="0" indent="0" algn="ctr">
              <a:buNone/>
            </a:pPr>
            <a:r>
              <a:rPr sz="1875" b="1">
                <a:solidFill>
                  <a:srgbClr val="2B2116"/>
                </a:solidFill>
                <a:latin typeface="PMingLiU"/>
                <a:ea typeface="PMingLiU"/>
                <a:cs typeface="PMingLiU"/>
              </a:rPr>
              <a:t>3｜成效與技術</a:t>
            </a:r>
            <a:endParaRPr sz="2200"/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4A171006-7643-4521-A0AC-4A23B3D59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340096"/>
            <a:ext cx="31546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200"/>
            </a:defPPr>
          </a:lstStyle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2B2116"/>
                </a:solidFill>
                <a:latin typeface="PMingLiU"/>
                <a:ea typeface="PMingLiU"/>
                <a:cs typeface="PMingLiU"/>
              </a:rPr>
              <a:t>學習證據、教師統計與 AI 安全架構</a:t>
            </a:r>
            <a:endParaRPr sz="1500"/>
          </a:p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99235E08-979C-40EA-8947-781BEDB85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06440"/>
            <a:ext cx="10835640" cy="41148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1E0BB"/>
          </a:solidFill>
          <a:ln xmlns:a="http://schemas.openxmlformats.org/drawingml/2006/main" w="13970">
            <a:solidFill>
              <a:srgbClr val="B98738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110EAEF6-D02F-451A-8241-A7525F780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925312"/>
            <a:ext cx="104698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80000"/>
          </a:bodyPr>
          <a:lstStyle xmlns:a="http://schemas.openxmlformats.org/drawingml/2006/main">
            <a:defPPr>
              <a:defRPr sz="1350"/>
            </a:defPPr>
          </a:lstStyle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5A3A21"/>
                </a:solidFill>
                <a:latin typeface="PMingLiU"/>
                <a:ea typeface="PMingLiU"/>
                <a:cs typeface="PMingLiU"/>
              </a:rPr>
              <a:t>正式網站：https://guardai-olive.vercel.app/showcase</a:t>
            </a:r>
            <a:endParaRPr sz="150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4F1F464D-06B6-4614-A1E1-748658D01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244" y="1965960"/>
            <a:ext cx="1463040" cy="32004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D9B9"/>
          </a:solidFill>
          <a:ln xmlns:a="http://schemas.openxmlformats.org/drawingml/2006/main" w="12700">
            <a:solidFill>
              <a:srgbClr val="EAD9B9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86255D9-36A8-45EA-8359-28FF9525086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e8a96fcb9b44a4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390650" y="1657350"/>
            <a:ext cx="2000250" cy="2762250"/>
          </a:xfrm>
          <a:prstGeom xmlns:a="http://schemas.openxmlformats.org/drawingml/2006/main" prst="roundRect">
            <a:avLst>
              <a:gd name="adj" fmla="val 3810"/>
            </a:avLst>
          </a:prstGeom>
        </p:spPr>
      </p:pic>
      <p:pic>
        <p:nvPic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8E8C634-9F8D-4006-838C-375459826A1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f416cc0165469f"/>
          <a:srcRect xmlns:a="http://schemas.openxmlformats.org/drawingml/2006/main" l="0" t="16000" r="0" b="58000"/>
          <a:stretch xmlns:a="http://schemas.openxmlformats.org/drawingml/2006/main"/>
        </p:blipFill>
        <p:spPr>
          <a:xfrm xmlns:a="http://schemas.openxmlformats.org/drawingml/2006/main">
            <a:off x="5067300" y="1657350"/>
            <a:ext cx="2000250" cy="2762250"/>
          </a:xfrm>
          <a:prstGeom xmlns:a="http://schemas.openxmlformats.org/drawingml/2006/main" prst="roundRect">
            <a:avLst>
              <a:gd name="adj" fmla="val 3810"/>
            </a:avLst>
          </a:prstGeom>
        </p:spPr>
      </p:pic>
      <p:pic>
        <p:nvPic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F5D88AD-E566-46D4-88E1-4A6ED033DB0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cd3f70f4c64084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743950" y="1657350"/>
            <a:ext cx="2000250" cy="2762250"/>
          </a:xfrm>
          <a:prstGeom xmlns:a="http://schemas.openxmlformats.org/drawingml/2006/main" prst="roundRect">
            <a:avLst>
              <a:gd name="adj" fmla="val 3810"/>
            </a:avLst>
          </a:prstGeom>
        </p:spPr>
      </p:pic>
    </p:spTree>
    <p:extLst>
      <p:ext uri="{BB962C8B-B14F-4D97-AF65-F5344CB8AC3E}">
        <p14:creationId xmlns:p14="http://schemas.microsoft.com/office/powerpoint/2010/main" val="200096693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628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8653D9F-2E6D-46D1-A88B-D5D5FDD90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83D"/>
          </a:solidFill>
          <a:ln xmlns:a="http://schemas.openxmlformats.org/drawingml/2006/main" w="12700">
            <a:solidFill>
              <a:srgbClr val="16283D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DAFE5EE6-AB70-4C8E-B585-7DEFA6F57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01168"/>
            <a:ext cx="11731752" cy="6446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83D"/>
          </a:solidFill>
          <a:ln xmlns:a="http://schemas.openxmlformats.org/drawingml/2006/main" w="15240">
            <a:solidFill>
              <a:srgbClr val="B98738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89707C5-CFF0-43EA-B0F5-C7F40D164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5488"/>
            <a:ext cx="111556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7BE7B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905365FA-7040-43E4-A45B-C6C268E95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82512"/>
            <a:ext cx="111556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7BE7B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E7FB44F-517C-40A0-B70E-274919AD9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74320"/>
            <a:ext cx="3200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D7BE7B"/>
                </a:solidFill>
                <a:latin typeface="PMingLiU"/>
                <a:ea typeface="PMingLiU"/>
                <a:cs typeface="PMingLiU"/>
              </a:rPr>
              <a:t>✦</a:t>
            </a:r>
            <a:endParaRPr sz="16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B15BD48-3195-47CE-9B00-842C0A0ED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4592" y="274320"/>
            <a:ext cx="3200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D7BE7B"/>
                </a:solidFill>
                <a:latin typeface="PMingLiU"/>
                <a:ea typeface="PMingLiU"/>
                <a:cs typeface="PMingLiU"/>
              </a:rPr>
              <a:t>❧</a:t>
            </a:r>
            <a:endParaRPr sz="16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BB9226A4-A569-4347-81C9-0CDC01316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6327648"/>
            <a:ext cx="3200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D7BE7B"/>
                </a:solidFill>
                <a:latin typeface="PMingLiU"/>
                <a:ea typeface="PMingLiU"/>
                <a:cs typeface="PMingLiU"/>
              </a:rPr>
              <a:t>✦</a:t>
            </a:r>
            <a:endParaRPr sz="16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77380394-17AE-4694-B239-D43AE810A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4592" y="6327648"/>
            <a:ext cx="3200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D7BE7B"/>
                </a:solidFill>
                <a:latin typeface="PMingLiU"/>
                <a:ea typeface="PMingLiU"/>
                <a:cs typeface="PMingLiU"/>
              </a:rPr>
              <a:t>❧</a:t>
            </a:r>
            <a:endParaRPr sz="16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ECE7E5E9-7A4A-4607-938A-83F2CB459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73952"/>
            <a:ext cx="5486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D9C389"/>
                </a:solidFill>
                <a:latin typeface="PMingLiU"/>
                <a:ea typeface="PMingLiU"/>
                <a:cs typeface="PMingLiU"/>
              </a:rPr>
              <a:t>09</a:t>
            </a:r>
            <a:endParaRPr sz="9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524F791A-04BA-4C1C-8429-7B6E08B32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"/>
            <a:ext cx="75895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2400"/>
            </a:defPPr>
          </a:lstStyle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FFFFF"/>
                </a:solidFill>
                <a:latin typeface="PMingLiU"/>
                <a:ea typeface="PMingLiU"/>
                <a:cs typeface="PMingLiU"/>
              </a:rPr>
              <a:t>與 165 的區隔：官方查詢與學習訓練各司其職</a:t>
            </a:r>
            <a:endParaRPr sz="28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777F484-EA1C-44D3-B87D-BEC72E53A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005840"/>
            <a:ext cx="80467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350"/>
            </a:defPPr>
          </a:lstStyle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DACCA7"/>
                </a:solidFill>
                <a:latin typeface="PMingLiU"/>
                <a:ea typeface="PMingLiU"/>
                <a:cs typeface="PMingLiU"/>
              </a:rPr>
              <a:t>165 提供官方資訊與諮詢；GuardAI 補上可練習的教育流程</a:t>
            </a:r>
            <a:endParaRPr sz="150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2C6BA230-C7F0-404A-90FE-41531264C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371600"/>
            <a:ext cx="3246120" cy="1143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26384F"/>
          </a:solidFill>
          <a:ln xmlns:a="http://schemas.openxmlformats.org/drawingml/2006/main" w="13970">
            <a:solidFill>
              <a:srgbClr val="D7BE7B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5F99B4F9-F4B6-42EA-A343-1400B273D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1517904"/>
            <a:ext cx="291693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8824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F4E5BC"/>
                </a:solidFill>
                <a:latin typeface="PMingLiU"/>
                <a:ea typeface="PMingLiU"/>
                <a:cs typeface="PMingLiU"/>
              </a:rPr>
              <a:t>165 官方服務</a:t>
            </a:r>
            <a:endParaRPr sz="17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7F5A2FF6-9C71-4992-AF55-2648D1560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1865376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98569"/>
          </a:bodyPr>
          <a:lstStyle xmlns:a="http://schemas.openxmlformats.org/drawingml/2006/main">
            <a:defPPr>
              <a:defRPr sz="1350"/>
            </a:defPPr>
          </a:lstStyle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F4E5BC"/>
                </a:solidFill>
                <a:latin typeface="PMingLiU"/>
                <a:ea typeface="PMingLiU"/>
                <a:cs typeface="PMingLiU"/>
              </a:rPr>
              <a:t>涉詐公告、常見 QA、宣導素材、防詐客服與 165 專線。</a:t>
            </a:r>
            <a:endParaRPr sz="15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D506D3F0-A479-4672-93B5-6164E7F30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834640"/>
            <a:ext cx="3246120" cy="1143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26384F"/>
          </a:solidFill>
          <a:ln xmlns:a="http://schemas.openxmlformats.org/drawingml/2006/main" w="13970">
            <a:solidFill>
              <a:srgbClr val="D7BE7B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A75A75D0-1AE2-49A2-B5C2-2787C0618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2980944"/>
            <a:ext cx="291693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8824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F4E5BC"/>
                </a:solidFill>
                <a:latin typeface="PMingLiU"/>
                <a:ea typeface="PMingLiU"/>
                <a:cs typeface="PMingLiU"/>
              </a:rPr>
              <a:t>GuardAI 教育功能</a:t>
            </a:r>
            <a:endParaRPr sz="17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86611EFF-F5C7-46AF-B805-851F1D945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3328416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>
            <a:defPPr>
              <a:defRPr sz="1350"/>
            </a:defPPr>
          </a:lstStyle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F4E5BC"/>
                </a:solidFill>
                <a:latin typeface="PMingLiU"/>
                <a:ea typeface="PMingLiU"/>
                <a:cs typeface="PMingLiU"/>
              </a:rPr>
              <a:t>從可疑訊息找線索、產生查證問題、練習安全行動，留下學習護照。</a:t>
            </a:r>
            <a:endParaRPr sz="1500"/>
          </a:p>
        </p:txBody>
      </p:sp>
      <p:pic>
        <p:nvPicPr>
          <p:cNvPr id="19" name="Image 0">
            <a:extLst xmlns:a="http://schemas.openxmlformats.org/drawingml/2006/main">
              <a:ext uri="{FF2B5EF4-FFF2-40B4-BE49-F238E27FC236}">
                <a16:creationId xmlns:a16="http://schemas.microsoft.com/office/drawing/2014/main" id="{A9723A86-A4B2-468C-A43E-63651E9BF53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7bda6398ab409c"/>
          <a:srcRect xmlns:a="http://schemas.openxmlformats.org/drawingml/2006/main" l="10000" t="5000" r="22724" b="21000"/>
          <a:stretch xmlns:a="http://schemas.openxmlformats.org/drawingml/2006/main"/>
        </p:blipFill>
        <p:spPr>
          <a:xfrm xmlns:a="http://schemas.openxmlformats.org/drawingml/2006/main">
            <a:off x="4389120" y="1234440"/>
            <a:ext cx="6720840" cy="4160520"/>
          </a:xfrm>
          <a:prstGeom xmlns:a="http://schemas.openxmlformats.org/drawingml/2006/main" prst="rect">
            <a:avLst/>
          </a:prstGeom>
        </p:spPr>
      </p:pic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B7196794-07A7-431C-A716-DE5B98CE5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297680"/>
            <a:ext cx="3246120" cy="1133856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EAD9B9"/>
          </a:solidFill>
          <a:ln xmlns:a="http://schemas.openxmlformats.org/drawingml/2006/main" w="13970">
            <a:solidFill>
              <a:srgbClr val="B98738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845CB4ED-1219-493C-8417-51DA4CB0C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443984"/>
            <a:ext cx="291693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8824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2B2116"/>
                </a:solidFill>
                <a:latin typeface="PMingLiU"/>
                <a:ea typeface="PMingLiU"/>
                <a:cs typeface="PMingLiU"/>
              </a:rPr>
              <a:t>教育科技差異</a:t>
            </a:r>
            <a:endParaRPr sz="170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66053018-C52F-40D6-9A5F-2BB2442FD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849331"/>
            <a:ext cx="291693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65236"/>
          </a:bodyPr>
          <a:lstStyle xmlns:a="http://schemas.openxmlformats.org/drawingml/2006/main">
            <a:defPPr>
              <a:defRPr sz="1350"/>
            </a:defPPr>
          </a:lstStyle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2B2116"/>
                </a:solidFill>
                <a:latin typeface="PMingLiU"/>
                <a:ea typeface="PMingLiU"/>
                <a:cs typeface="PMingLiU"/>
              </a:rPr>
              <a:t>前後測、分支闖關、即時回饋、教師匿名統計與離線展示。</a:t>
            </a:r>
            <a:endParaRPr sz="1500"/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684EDF8C-45E2-4385-B31E-6789E6E4A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06440"/>
            <a:ext cx="10835640" cy="41148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20344D"/>
          </a:solidFill>
          <a:ln xmlns:a="http://schemas.openxmlformats.org/drawingml/2006/main" w="13970">
            <a:solidFill>
              <a:srgbClr val="D7BE7B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EABECEE2-65C6-4F56-B5F3-14FDBC082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925312"/>
            <a:ext cx="104698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72000"/>
          </a:bodyPr>
          <a:lstStyle xmlns:a="http://schemas.openxmlformats.org/drawingml/2006/main">
            <a:defPPr>
              <a:defRPr sz="1500"/>
            </a:defPPr>
          </a:lstStyle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4E5BC"/>
                </a:solidFill>
                <a:latin typeface="PMingLiU"/>
                <a:ea typeface="PMingLiU"/>
                <a:cs typeface="PMingLiU"/>
              </a:rPr>
              <a:t>GuardAI 不取代官方判斷，而是教使用者何時、如何使用官方管道。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2463649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EED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C434333-2A81-492A-9186-7FDA1E16E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EDC"/>
          </a:solidFill>
          <a:ln xmlns:a="http://schemas.openxmlformats.org/drawingml/2006/main" w="12700">
            <a:solidFill>
              <a:srgbClr val="F6EEDC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B29E1926-8798-4C2A-BF3E-22F1190C8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01168"/>
            <a:ext cx="11731752" cy="6446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EDB"/>
          </a:solidFill>
          <a:ln xmlns:a="http://schemas.openxmlformats.org/drawingml/2006/main" w="15240">
            <a:solidFill>
              <a:srgbClr val="7B552E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F1BD650E-ACF4-4A90-9F10-8B065FB27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5488"/>
            <a:ext cx="111556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B98738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76A66DF0-607C-4290-9FFD-C7D2E46CE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82512"/>
            <a:ext cx="111556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B98738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757A281-93BC-4232-B301-4379335CB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74320"/>
            <a:ext cx="3200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7B552E"/>
                </a:solidFill>
                <a:latin typeface="PMingLiU"/>
                <a:ea typeface="PMingLiU"/>
                <a:cs typeface="PMingLiU"/>
              </a:rPr>
              <a:t>✦</a:t>
            </a:r>
            <a:endParaRPr sz="16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8CA97E7-A0C0-4131-B31F-0DF82DCD5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4592" y="274320"/>
            <a:ext cx="3200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7B552E"/>
                </a:solidFill>
                <a:latin typeface="PMingLiU"/>
                <a:ea typeface="PMingLiU"/>
                <a:cs typeface="PMingLiU"/>
              </a:rPr>
              <a:t>❧</a:t>
            </a:r>
            <a:endParaRPr sz="16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C99E3CD5-0FAC-48A7-8B76-6146763BF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6327648"/>
            <a:ext cx="3200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7B552E"/>
                </a:solidFill>
                <a:latin typeface="PMingLiU"/>
                <a:ea typeface="PMingLiU"/>
                <a:cs typeface="PMingLiU"/>
              </a:rPr>
              <a:t>✦</a:t>
            </a:r>
            <a:endParaRPr sz="16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ED1DEE4C-171D-422A-9165-A92C04D5C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4592" y="6327648"/>
            <a:ext cx="3200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7B552E"/>
                </a:solidFill>
                <a:latin typeface="PMingLiU"/>
                <a:ea typeface="PMingLiU"/>
                <a:cs typeface="PMingLiU"/>
              </a:rPr>
              <a:t>❧</a:t>
            </a:r>
            <a:endParaRPr sz="16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BAC99632-F266-4700-B9CD-BEC837AAE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73952"/>
            <a:ext cx="502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4A3526"/>
                </a:solidFill>
                <a:latin typeface="PMingLiU"/>
                <a:ea typeface="PMingLiU"/>
                <a:cs typeface="PMingLiU"/>
              </a:rPr>
              <a:t>10</a:t>
            </a:r>
            <a:endParaRPr sz="9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1DC168DD-5CE4-4ACA-B3BB-28EC2EDDA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"/>
            <a:ext cx="75895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2400"/>
            </a:defPPr>
          </a:lstStyle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2B2116"/>
                </a:solidFill>
                <a:latin typeface="PMingLiU"/>
                <a:ea typeface="PMingLiU"/>
                <a:cs typeface="PMingLiU"/>
              </a:rPr>
              <a:t>落地性：學生、家庭與教師都有完整操作路徑</a:t>
            </a:r>
            <a:endParaRPr sz="28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692A80A3-C4C0-4001-9CD0-0ED876459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005840"/>
            <a:ext cx="80467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350"/>
            </a:defPPr>
          </a:lstStyle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796A4B"/>
                </a:solidFill>
                <a:latin typeface="PMingLiU"/>
                <a:ea typeface="PMingLiU"/>
                <a:cs typeface="PMingLiU"/>
              </a:rPr>
              <a:t>同一套平台支援個人判讀、親子共學與班級教學</a:t>
            </a:r>
            <a:endParaRPr sz="1500"/>
          </a:p>
        </p:txBody>
      </p:sp>
      <p:pic>
        <p:nvPicPr>
          <p:cNvPr id="13" name="Image 0">
            <a:extLst xmlns:a="http://schemas.openxmlformats.org/drawingml/2006/main">
              <a:ext uri="{FF2B5EF4-FFF2-40B4-BE49-F238E27FC236}">
                <a16:creationId xmlns:a16="http://schemas.microsoft.com/office/drawing/2014/main" id="{727AA4BC-3E6F-4DD3-A340-C0160D537E7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5cefc5f4164e64"/>
          <a:srcRect xmlns:a="http://schemas.openxmlformats.org/drawingml/2006/main" l="9000" t="5000" r="36270" b="23000"/>
          <a:stretch xmlns:a="http://schemas.openxmlformats.org/drawingml/2006/main"/>
        </p:blipFill>
        <p:spPr>
          <a:xfrm xmlns:a="http://schemas.openxmlformats.org/drawingml/2006/main">
            <a:off x="731519" y="1325880"/>
            <a:ext cx="4866033" cy="3602736"/>
          </a:xfrm>
          <a:prstGeom xmlns:a="http://schemas.openxmlformats.org/drawingml/2006/main" prst="rect">
            <a:avLst/>
          </a:prstGeom>
        </p:spPr>
      </p:pic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6B8375E7-0E3B-4A5F-A938-8A1B38CAD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59" y="1325880"/>
            <a:ext cx="2570205" cy="128016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7EBD1"/>
          </a:solidFill>
          <a:ln xmlns:a="http://schemas.openxmlformats.org/drawingml/2006/main" w="13970">
            <a:solidFill>
              <a:srgbClr val="B98738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7B755A3D-FE51-4336-BA0A-910A31E02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6752" y="1472184"/>
            <a:ext cx="204825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2B2116"/>
                </a:solidFill>
                <a:latin typeface="PMingLiU"/>
                <a:ea typeface="PMingLiU"/>
                <a:cs typeface="PMingLiU"/>
              </a:rPr>
              <a:t>校園</a:t>
            </a:r>
            <a:endParaRPr sz="200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39640C81-7F4E-4949-B7F7-AD86EA798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6752" y="1912256"/>
            <a:ext cx="204825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88765"/>
          </a:bodyPr>
          <a:lstStyle xmlns:a="http://schemas.openxmlformats.org/drawingml/2006/main">
            <a:defPPr>
              <a:defRPr sz="1350"/>
            </a:defPPr>
          </a:lstStyle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2B2116"/>
                </a:solidFill>
                <a:latin typeface="PMingLiU"/>
                <a:ea typeface="PMingLiU"/>
                <a:cs typeface="PMingLiU"/>
              </a:rPr>
              <a:t>前測 → 判讀 → 闖關 → 後測 → 學習護照。</a:t>
            </a:r>
            <a:endParaRPr sz="150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65119797-5820-466C-9366-3244342A0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39" y="1325880"/>
            <a:ext cx="2570205" cy="128016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7EBD1"/>
          </a:solidFill>
          <a:ln xmlns:a="http://schemas.openxmlformats.org/drawingml/2006/main" w="13970">
            <a:solidFill>
              <a:srgbClr val="B98738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9E5B1932-DA6A-447E-B7EC-010143B8C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4232" y="1472184"/>
            <a:ext cx="204825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2B2116"/>
                </a:solidFill>
                <a:latin typeface="PMingLiU"/>
                <a:ea typeface="PMingLiU"/>
                <a:cs typeface="PMingLiU"/>
              </a:rPr>
              <a:t>家庭</a:t>
            </a:r>
            <a:endParaRPr sz="200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5E82043F-9761-49F9-BDB2-3BD1484A4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4232" y="1912256"/>
            <a:ext cx="204825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88765"/>
          </a:bodyPr>
          <a:lstStyle xmlns:a="http://schemas.openxmlformats.org/drawingml/2006/main">
            <a:defPPr>
              <a:defRPr sz="1350"/>
            </a:defPPr>
          </a:lstStyle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2B2116"/>
                </a:solidFill>
                <a:latin typeface="PMingLiU"/>
                <a:ea typeface="PMingLiU"/>
                <a:cs typeface="PMingLiU"/>
              </a:rPr>
              <a:t>大字與白話回饋，產生求助卡，共同查證。</a:t>
            </a:r>
            <a:endParaRPr sz="1500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A9A5F720-946F-48D7-AE9D-BE409ECFE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59" y="2697480"/>
            <a:ext cx="2570205" cy="128016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7EBD1"/>
          </a:solidFill>
          <a:ln xmlns:a="http://schemas.openxmlformats.org/drawingml/2006/main" w="13970">
            <a:solidFill>
              <a:srgbClr val="B98738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A129C82E-E7A8-4D77-A9A5-F9ACC21BB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6752" y="2843784"/>
            <a:ext cx="204825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2B2116"/>
                </a:solidFill>
                <a:latin typeface="PMingLiU"/>
                <a:ea typeface="PMingLiU"/>
                <a:cs typeface="PMingLiU"/>
              </a:rPr>
              <a:t>社區</a:t>
            </a:r>
            <a:endParaRPr sz="200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88B56698-CE32-4B25-BE60-B712712E3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6752" y="3283856"/>
            <a:ext cx="204825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88765"/>
          </a:bodyPr>
          <a:lstStyle xmlns:a="http://schemas.openxmlformats.org/drawingml/2006/main">
            <a:defPPr>
              <a:defRPr sz="1350"/>
            </a:defPPr>
          </a:lstStyle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2B2116"/>
                </a:solidFill>
                <a:latin typeface="PMingLiU"/>
                <a:ea typeface="PMingLiU"/>
                <a:cs typeface="PMingLiU"/>
              </a:rPr>
              <a:t>班級代碼、情境包、匿名完成率、常錯概念與 CSV。</a:t>
            </a:r>
            <a:endParaRPr sz="1500"/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539FF4DE-7CE2-4742-BA56-5782070CD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39" y="2697480"/>
            <a:ext cx="2570205" cy="128016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7EBD1"/>
          </a:solidFill>
          <a:ln xmlns:a="http://schemas.openxmlformats.org/drawingml/2006/main" w="13970">
            <a:solidFill>
              <a:srgbClr val="B98738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C28BED59-D9B5-4DCE-9FAD-B5ADDFB75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4232" y="2843784"/>
            <a:ext cx="204825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84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2B2116"/>
                </a:solidFill>
                <a:latin typeface="PMingLiU"/>
                <a:ea typeface="PMingLiU"/>
                <a:cs typeface="PMingLiU"/>
              </a:rPr>
              <a:t>競賽／社區</a:t>
            </a:r>
            <a:endParaRPr sz="2000"/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A2D83A54-0AFD-4FDE-B504-1F093A3E9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4232" y="3283856"/>
            <a:ext cx="204825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62458"/>
          </a:bodyPr>
          <a:lstStyle xmlns:a="http://schemas.openxmlformats.org/drawingml/2006/main">
            <a:defPPr>
              <a:defRPr sz="1350"/>
            </a:defPPr>
          </a:lstStyle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2B2116"/>
                </a:solidFill>
                <a:latin typeface="PMingLiU"/>
                <a:ea typeface="PMingLiU"/>
                <a:cs typeface="PMingLiU"/>
              </a:rPr>
              <a:t>3–5 分鐘導覽與單檔離線備援，斷網仍可展示。</a:t>
            </a:r>
            <a:endParaRPr sz="1500"/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D120CB07-0C04-41B7-86D8-490912485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0" y="4069080"/>
            <a:ext cx="5267684" cy="128016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EFE0BD"/>
          </a:solidFill>
          <a:ln xmlns:a="http://schemas.openxmlformats.org/drawingml/2006/main" w="13970">
            <a:solidFill>
              <a:srgbClr val="556244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4DCC62BE-52C2-44D1-8086-78D216514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6752" y="4215384"/>
            <a:ext cx="474573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84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2B2116"/>
                </a:solidFill>
                <a:latin typeface="PMingLiU"/>
                <a:ea typeface="PMingLiU"/>
                <a:cs typeface="PMingLiU"/>
              </a:rPr>
              <a:t>資料原則</a:t>
            </a:r>
            <a:endParaRPr sz="2000"/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13089424-3A9C-42D0-8887-AAFDB6464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6752" y="4655456"/>
            <a:ext cx="474573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>
            <a:defPPr>
              <a:defRPr sz="1350"/>
            </a:defPPr>
          </a:lstStyle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2B2116"/>
                </a:solidFill>
                <a:latin typeface="PMingLiU"/>
                <a:ea typeface="PMingLiU"/>
                <a:cs typeface="PMingLiU"/>
              </a:rPr>
              <a:t>預設免帳號；不收姓名、座號、Email、電話或原始可疑訊息。</a:t>
            </a:r>
            <a:endParaRPr sz="1500"/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95D669AB-1FF6-41E4-BEF3-A2C3D81F5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06440"/>
            <a:ext cx="10835640" cy="41148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1E0BB"/>
          </a:solidFill>
          <a:ln xmlns:a="http://schemas.openxmlformats.org/drawingml/2006/main" w="13970">
            <a:solidFill>
              <a:srgbClr val="B98738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FC96E109-34DD-4548-A300-A2DE29544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925312"/>
            <a:ext cx="104698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72000"/>
          </a:bodyPr>
          <a:lstStyle xmlns:a="http://schemas.openxmlformats.org/drawingml/2006/main">
            <a:defPPr>
              <a:defRPr sz="1500"/>
            </a:defPPr>
          </a:lstStyle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5A3A21"/>
                </a:solidFill>
                <a:latin typeface="PMingLiU"/>
                <a:ea typeface="PMingLiU"/>
                <a:cs typeface="PMingLiU"/>
              </a:rPr>
              <a:t>教師 Demo 與真實試用資料分開標示，不把模擬數據當成果。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200062745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9F45D6A-89A4-4EF5-8ED4-CF19A1DF5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99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2F"/>
          </a:solidFill>
          <a:ln xmlns:a="http://schemas.openxmlformats.org/drawingml/2006/main">
            <a:solidFill>
              <a:srgbClr val="08202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3084C175-76DE-4D34-986C-7832FDDF7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" y="146304"/>
            <a:ext cx="11899391" cy="65653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B58943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875F6148-FB05-4065-A107-1A7CA0385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" y="219456"/>
            <a:ext cx="11753087" cy="6419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B58943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BCD9EDA7-3023-4002-B7F7-A066D850E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" y="256032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0">
                <a:solidFill>
                  <a:srgbClr val="B58943"/>
                </a:solidFill>
                <a:latin typeface="PMingLiU"/>
                <a:ea typeface="PMingLiU"/>
                <a:cs typeface="PMingLiU"/>
              </a:rPr>
              <a:t>✦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81878FD-8C24-4AD8-BD6E-CD8F4F6B8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7744" y="256032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0">
                <a:solidFill>
                  <a:srgbClr val="B58943"/>
                </a:solidFill>
                <a:latin typeface="PMingLiU"/>
                <a:ea typeface="PMingLiU"/>
                <a:cs typeface="PMingLiU"/>
              </a:rPr>
              <a:t>❧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A6B5D0E-C894-45EF-96B8-F35C65794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" y="6428232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0">
                <a:solidFill>
                  <a:srgbClr val="B58943"/>
                </a:solidFill>
                <a:latin typeface="PMingLiU"/>
                <a:ea typeface="PMingLiU"/>
                <a:cs typeface="PMingLiU"/>
              </a:rPr>
              <a:t>✦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30BF97FF-AB5B-4C33-A482-DE286DE51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7744" y="6428232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0">
                <a:solidFill>
                  <a:srgbClr val="B58943"/>
                </a:solidFill>
                <a:latin typeface="PMingLiU"/>
                <a:ea typeface="PMingLiU"/>
                <a:cs typeface="PMingLiU"/>
              </a:rPr>
              <a:t>❧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73C07285-DAD5-4F0F-8823-2C94B4476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1148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>
            <a:defPPr>
              <a:defRPr sz="2400"/>
            </a:defPPr>
          </a:lstStyle>
          <a:p xmlns:a="http://schemas.openxmlformats.org/drawingml/2006/main">
            <a:r>
              <a:rPr sz="2400" b="1">
                <a:solidFill>
                  <a:srgbClr val="F3E7D0"/>
                </a:solidFill>
                <a:latin typeface="PMingLiU"/>
                <a:ea typeface="PMingLiU"/>
                <a:cs typeface="PMingLiU"/>
              </a:rPr>
              <a:t>AI 技術深度：生成式 AI 受到可檢查的安全約束</a:t>
            </a:r>
            <a:endParaRPr sz="2900" b="1">
              <a:solidFill>
                <a:srgbClr val="F3E7D0"/>
              </a:solidFill>
              <a:latin typeface="PMingLiU"/>
              <a:ea typeface="PMingLiU"/>
              <a:cs typeface="PMingLiU"/>
            </a:endParaR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C66B4D1B-283C-469D-B5C2-50110E24B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060704"/>
            <a:ext cx="10789920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>
            <a:defPPr>
              <a:defRPr sz="1350"/>
            </a:defPPr>
          </a:lstStyle>
          <a:p xmlns:a="http://schemas.openxmlformats.org/drawingml/2006/main">
            <a:r>
              <a:rPr sz="1350" b="1">
                <a:solidFill>
                  <a:srgbClr val="D2A045"/>
                </a:solidFill>
                <a:latin typeface="PMingLiU"/>
                <a:ea typeface="PMingLiU"/>
                <a:cs typeface="PMingLiU"/>
              </a:rPr>
              <a:t>Prompt Engineering、Structured Outputs 與雙層驗證共同運作</a:t>
            </a:r>
            <a:endParaRPr sz="1600" b="1">
              <a:solidFill>
                <a:srgbClr val="D2A045"/>
              </a:solidFill>
              <a:latin typeface="PMingLiU"/>
              <a:ea typeface="PMingLiU"/>
              <a:cs typeface="PMingLiU"/>
            </a:endParaRPr>
          </a:p>
        </p:txBody>
      </p:sp>
      <p:pic>
        <p:nvPicPr>
          <p:cNvPr id="11" name="Picture 10">
            <a:extLst xmlns:a="http://schemas.openxmlformats.org/drawingml/2006/main">
              <a:ext uri="{FF2B5EF4-FFF2-40B4-BE49-F238E27FC236}">
                <a16:creationId xmlns:a16="http://schemas.microsoft.com/office/drawing/2014/main" id="{141DEFF4-D82F-44C9-A01F-55528D229A0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6b9789b7e143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1627632"/>
            <a:ext cx="5577840" cy="4069080"/>
          </a:xfrm>
          <a:prstGeom xmlns:a="http://schemas.openxmlformats.org/drawingml/2006/main" prst="rect">
            <a:avLst/>
          </a:prstGeom>
          <a:ln xmlns:a="http://schemas.openxmlformats.org/drawingml/2006/main" w="15240">
            <a:solidFill>
              <a:srgbClr val="B58943"/>
            </a:solidFill>
          </a:ln>
        </p:spPr>
      </p:pic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5815F06E-F653-4873-AE4F-B9AAA551B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508760"/>
            <a:ext cx="5257800" cy="110642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AF4E2"/>
          </a:solidFill>
          <a:ln xmlns:a="http://schemas.openxmlformats.org/drawingml/2006/main" w="13970">
            <a:solidFill>
              <a:srgbClr val="B58943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BC4EF2D0-EFC2-4BF7-B214-C0F40E9A4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3263" y="1559052"/>
            <a:ext cx="438912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4A3526"/>
                </a:solidFill>
                <a:latin typeface="PMingLiU"/>
                <a:ea typeface="PMingLiU"/>
                <a:cs typeface="PMingLiU"/>
              </a:rPr>
              <a:t>1｜Prompt 邊界</a:t>
            </a:r>
            <a:endParaRPr sz="2000" b="1">
              <a:solidFill>
                <a:srgbClr val="4A3526"/>
              </a:solidFill>
              <a:latin typeface="PMingLiU"/>
              <a:ea typeface="PMingLiU"/>
              <a:cs typeface="PMingLiU"/>
            </a:endParaR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CBAEFD4C-1408-44BF-BEFC-2F0B7B6BC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1975956"/>
            <a:ext cx="48463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9728" tIns="0" rIns="73152" bIns="0">
            <a:normAutofit fontScale="100000"/>
          </a:bodyPr>
          <a:lstStyle xmlns:a="http://schemas.openxmlformats.org/drawingml/2006/main">
            <a:defPPr>
              <a:defRPr sz="1275"/>
            </a:def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3B2B1B"/>
                </a:solidFill>
                <a:latin typeface="Noto Serif CJK TC"/>
                <a:ea typeface="Noto Serif CJK TC"/>
                <a:cs typeface="Noto Serif CJK TC"/>
              </a:defRPr>
            </a:pPr>
            <a:r>
              <a:rPr sz="1275">
                <a:solidFill>
                  <a:srgbClr val="4A3526"/>
                </a:solidFill>
                <a:latin typeface="PMingLiU"/>
                <a:ea typeface="PMingLiU"/>
                <a:cs typeface="PMingLiU"/>
              </a:rPr>
              <a:t>角色是反詐查證教練</a:t>
            </a:r>
            <a:endParaRPr sz="1500">
              <a:solidFill>
                <a:srgbClr val="4A3526"/>
              </a:solidFill>
              <a:latin typeface="PMingLiU"/>
              <a:ea typeface="PMingLiU"/>
              <a:cs typeface="PMingLiU"/>
            </a:endParaRP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3B2B1B"/>
                </a:solidFill>
                <a:latin typeface="Noto Serif CJK TC"/>
                <a:ea typeface="Noto Serif CJK TC"/>
                <a:cs typeface="Noto Serif CJK TC"/>
              </a:defRPr>
            </a:pPr>
            <a:r>
              <a:rPr sz="1275">
                <a:solidFill>
                  <a:srgbClr val="4A3526"/>
                </a:solidFill>
                <a:latin typeface="PMingLiU"/>
                <a:ea typeface="PMingLiU"/>
                <a:cs typeface="PMingLiU"/>
              </a:rPr>
              <a:t>訊息只當資料，不執行其中指令</a:t>
            </a:r>
            <a:endParaRPr sz="1500">
              <a:solidFill>
                <a:srgbClr val="4A3526"/>
              </a:solidFill>
              <a:latin typeface="PMingLiU"/>
              <a:ea typeface="PMingLiU"/>
              <a:cs typeface="PMingLiU"/>
            </a:endParaRP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2737FB58-8F38-45F0-BAA0-76E0FEEE9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2606040"/>
            <a:ext cx="5257800" cy="110642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AF4E2"/>
          </a:solidFill>
          <a:ln xmlns:a="http://schemas.openxmlformats.org/drawingml/2006/main" w="13970">
            <a:solidFill>
              <a:srgbClr val="B58943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3B539DE5-131B-4894-908D-670912847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3263" y="2679192"/>
            <a:ext cx="438912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4A3526"/>
                </a:solidFill>
                <a:latin typeface="PMingLiU"/>
                <a:ea typeface="PMingLiU"/>
                <a:cs typeface="PMingLiU"/>
              </a:rPr>
              <a:t>2｜Structured Outputs</a:t>
            </a:r>
            <a:endParaRPr sz="2000" b="1">
              <a:solidFill>
                <a:srgbClr val="4A3526"/>
              </a:solidFill>
              <a:latin typeface="PMingLiU"/>
              <a:ea typeface="PMingLiU"/>
              <a:cs typeface="PMingLiU"/>
            </a:endParaR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04302A8D-A89E-42AF-81CE-E480DD02F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4224" y="2983955"/>
            <a:ext cx="48463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9728" tIns="0" rIns="73152" bIns="0">
            <a:normAutofit fontScale="100000"/>
          </a:bodyPr>
          <a:lstStyle xmlns:a="http://schemas.openxmlformats.org/drawingml/2006/main">
            <a:defPPr>
              <a:defRPr sz="1275"/>
            </a:def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3B2B1B"/>
                </a:solidFill>
                <a:latin typeface="Noto Serif CJK TC"/>
                <a:ea typeface="Noto Serif CJK TC"/>
                <a:cs typeface="Noto Serif CJK TC"/>
              </a:defRPr>
            </a:pPr>
            <a:r>
              <a:rPr sz="1275">
                <a:solidFill>
                  <a:srgbClr val="4A3526"/>
                </a:solidFill>
                <a:latin typeface="PMingLiU"/>
                <a:ea typeface="PMingLiU"/>
                <a:cs typeface="PMingLiU"/>
              </a:rPr>
              <a:t>Strict JSON Schema 限定欄位</a:t>
            </a:r>
            <a:endParaRPr sz="1500">
              <a:solidFill>
                <a:srgbClr val="4A3526"/>
              </a:solidFill>
              <a:latin typeface="PMingLiU"/>
              <a:ea typeface="PMingLiU"/>
              <a:cs typeface="PMingLiU"/>
            </a:endParaRP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3B2B1B"/>
                </a:solidFill>
                <a:latin typeface="Noto Serif CJK TC"/>
                <a:ea typeface="Noto Serif CJK TC"/>
                <a:cs typeface="Noto Serif CJK TC"/>
              </a:defRPr>
            </a:pPr>
            <a:r>
              <a:rPr sz="1275">
                <a:solidFill>
                  <a:srgbClr val="4A3526"/>
                </a:solidFill>
                <a:latin typeface="PMingLiU"/>
                <a:ea typeface="PMingLiU"/>
                <a:cs typeface="PMingLiU"/>
              </a:rPr>
              <a:t>Zod 再驗證型別、長度與列舉值</a:t>
            </a:r>
            <a:endParaRPr sz="1500">
              <a:solidFill>
                <a:srgbClr val="4A3526"/>
              </a:solidFill>
              <a:latin typeface="PMingLiU"/>
              <a:ea typeface="PMingLiU"/>
              <a:cs typeface="PMingLiU"/>
            </a:endParaRPr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540B0F22-8276-42F8-AB0D-218190B91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3703320"/>
            <a:ext cx="5257800" cy="110642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AF4E2"/>
          </a:solidFill>
          <a:ln xmlns:a="http://schemas.openxmlformats.org/drawingml/2006/main" w="13970">
            <a:solidFill>
              <a:srgbClr val="B58943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947ABAE5-B896-481A-8694-FA9F8A935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3263" y="3776472"/>
            <a:ext cx="438912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4A3526"/>
                </a:solidFill>
                <a:latin typeface="PMingLiU"/>
                <a:ea typeface="PMingLiU"/>
                <a:cs typeface="PMingLiU"/>
              </a:rPr>
              <a:t>3｜隱私與可靠性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7642C96C-EBE1-452D-B920-EB96B05C3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3263" y="4168176"/>
            <a:ext cx="48463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9728" tIns="0" rIns="73152" bIns="0">
            <a:normAutofit fontScale="100000"/>
          </a:bodyPr>
          <a:lstStyle xmlns:a="http://schemas.openxmlformats.org/drawingml/2006/main">
            <a:defPPr>
              <a:defRPr sz="1275"/>
            </a:def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3B2B1B"/>
                </a:solidFill>
                <a:latin typeface="Noto Serif CJK TC"/>
                <a:ea typeface="Noto Serif CJK TC"/>
                <a:cs typeface="Noto Serif CJK TC"/>
              </a:defRPr>
            </a:pPr>
            <a:r>
              <a:rPr sz="1275">
                <a:solidFill>
                  <a:srgbClr val="4A3526"/>
                </a:solidFill>
                <a:latin typeface="PMingLiU"/>
                <a:ea typeface="PMingLiU"/>
                <a:cs typeface="PMingLiU"/>
              </a:rPr>
              <a:t>敏感資料先遮罩</a:t>
            </a:r>
            <a:endParaRPr sz="1500">
              <a:solidFill>
                <a:srgbClr val="4A3526"/>
              </a:solidFill>
              <a:latin typeface="PMingLiU"/>
              <a:ea typeface="PMingLiU"/>
              <a:cs typeface="PMingLiU"/>
            </a:endParaRP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3B2B1B"/>
                </a:solidFill>
                <a:latin typeface="Noto Serif CJK TC"/>
                <a:ea typeface="Noto Serif CJK TC"/>
                <a:cs typeface="Noto Serif CJK TC"/>
              </a:defRPr>
            </a:pPr>
            <a:r>
              <a:rPr sz="1275">
                <a:solidFill>
                  <a:srgbClr val="4A3526"/>
                </a:solidFill>
                <a:latin typeface="PMingLiU"/>
                <a:ea typeface="PMingLiU"/>
                <a:cs typeface="PMingLiU"/>
              </a:rPr>
              <a:t>store:false、20 秒逾時與用量限制</a:t>
            </a:r>
            <a:endParaRPr sz="1500">
              <a:solidFill>
                <a:srgbClr val="4A3526"/>
              </a:solidFill>
              <a:latin typeface="PMingLiU"/>
              <a:ea typeface="PMingLiU"/>
              <a:cs typeface="PMingLiU"/>
            </a:endParaRPr>
          </a:p>
        </p:txBody>
      </p:sp>
      <p:sp>
        <p:nvSpPr>
          <p:cNvPr id="27" name="Rounded Rectangle 26">
            <a:extLst xmlns:a="http://schemas.openxmlformats.org/drawingml/2006/main">
              <a:ext uri="{FF2B5EF4-FFF2-40B4-BE49-F238E27FC236}">
                <a16:creationId xmlns:a16="http://schemas.microsoft.com/office/drawing/2014/main" id="{9A0E6360-0197-4383-8A85-F55F0C354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4800600"/>
            <a:ext cx="5257800" cy="110642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AF4E2"/>
          </a:solidFill>
          <a:ln xmlns:a="http://schemas.openxmlformats.org/drawingml/2006/main" w="13970">
            <a:solidFill>
              <a:srgbClr val="B58943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6DA8DC20-D5B9-4880-A78F-42E5D6939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3263" y="4892040"/>
            <a:ext cx="438912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4A3526"/>
                </a:solidFill>
                <a:latin typeface="PMingLiU"/>
                <a:ea typeface="PMingLiU"/>
                <a:cs typeface="PMingLiU"/>
              </a:rPr>
              <a:t>4｜誠實備援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69B2EB5C-66F5-459E-9B49-02B8256A6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3263" y="5230368"/>
            <a:ext cx="48463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9728" tIns="0" rIns="73152" bIns="0">
            <a:normAutofit fontScale="100000"/>
          </a:bodyPr>
          <a:lstStyle xmlns:a="http://schemas.openxmlformats.org/drawingml/2006/main">
            <a:defPPr>
              <a:defRPr sz="1275"/>
            </a:def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3B2B1B"/>
                </a:solidFill>
                <a:latin typeface="Noto Serif CJK TC"/>
                <a:ea typeface="Noto Serif CJK TC"/>
                <a:cs typeface="Noto Serif CJK TC"/>
              </a:defRPr>
            </a:pPr>
            <a:r>
              <a:rPr sz="1275">
                <a:solidFill>
                  <a:srgbClr val="4A3526"/>
                </a:solidFill>
                <a:latin typeface="PMingLiU"/>
                <a:ea typeface="PMingLiU"/>
                <a:cs typeface="PMingLiU"/>
              </a:rPr>
              <a:t>證據不足輸出 unknown</a:t>
            </a:r>
            <a:endParaRPr sz="1500">
              <a:solidFill>
                <a:srgbClr val="4A3526"/>
              </a:solidFill>
              <a:latin typeface="PMingLiU"/>
              <a:ea typeface="PMingLiU"/>
              <a:cs typeface="PMingLiU"/>
            </a:endParaRP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3B2B1B"/>
                </a:solidFill>
                <a:latin typeface="Noto Serif CJK TC"/>
                <a:ea typeface="Noto Serif CJK TC"/>
                <a:cs typeface="Noto Serif CJK TC"/>
              </a:defRPr>
            </a:pPr>
            <a:r>
              <a:rPr sz="1275">
                <a:solidFill>
                  <a:srgbClr val="4A3526"/>
                </a:solidFill>
                <a:latin typeface="PMingLiU"/>
                <a:ea typeface="PMingLiU"/>
                <a:cs typeface="PMingLiU"/>
              </a:rPr>
              <a:t>OpenAI 失敗切換安全 Demo 並標示模式</a:t>
            </a:r>
            <a:endParaRPr sz="1500">
              <a:solidFill>
                <a:srgbClr val="4A3526"/>
              </a:solidFill>
              <a:latin typeface="PMingLiU"/>
              <a:ea typeface="PMingLiU"/>
              <a:cs typeface="PMingLiU"/>
            </a:endParaRPr>
          </a:p>
        </p:txBody>
      </p:sp>
      <p:sp>
        <p:nvSpPr>
          <p:cNvPr id="32" name="Rounded Rectangle 31">
            <a:extLst xmlns:a="http://schemas.openxmlformats.org/drawingml/2006/main">
              <a:ext uri="{FF2B5EF4-FFF2-40B4-BE49-F238E27FC236}">
                <a16:creationId xmlns:a16="http://schemas.microsoft.com/office/drawing/2014/main" id="{CCD919FA-3039-4F7C-9199-920EC0798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989320"/>
            <a:ext cx="11018520" cy="475488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B58943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A4A5F19B-BC3E-4CE3-B040-86E4E3275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6053328"/>
            <a:ext cx="10469880" cy="350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>
            <a:defPPr>
              <a:defRPr sz="1350"/>
            </a:defPPr>
          </a:lstStyle>
          <a:p xmlns:a="http://schemas.openxmlformats.org/drawingml/2006/main">
            <a:pPr algn="l">
              <a:buNone/>
            </a:pPr>
            <a:r>
              <a:rPr sz="1350" b="1">
                <a:solidFill>
                  <a:srgbClr val="D2A045"/>
                </a:solidFill>
                <a:latin typeface="PMingLiU"/>
                <a:ea typeface="PMingLiU"/>
                <a:cs typeface="PMingLiU"/>
              </a:rPr>
              <a:t>模型輸出必須帶原文證據、三個查證問題、3–5 個安全行動與固定免責聲明。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E4627863-C42A-4052-871C-2DF4AC75C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336792"/>
            <a:ext cx="502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0">
                <a:solidFill>
                  <a:srgbClr val="F3E7D0"/>
                </a:solidFill>
                <a:latin typeface="PMingLiU"/>
                <a:ea typeface="PMingLiU"/>
                <a:cs typeface="PMingLiU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94621122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A14ACEF-9A27-4B50-823E-0B5892EAB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99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4E2"/>
          </a:solidFill>
          <a:ln xmlns:a="http://schemas.openxmlformats.org/drawingml/2006/main">
            <a:solidFill>
              <a:srgbClr val="FAF4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2FF9E15-5650-401B-B029-5DADDB3DB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" y="146304"/>
            <a:ext cx="11899391" cy="65653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91662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0F723699-E219-428E-B0F0-E8464C9EE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" y="219456"/>
            <a:ext cx="11753087" cy="6419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91662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9138F14-1B7A-4C33-93AC-725A70ED8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" y="256032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0">
                <a:solidFill>
                  <a:srgbClr val="91662C"/>
                </a:solidFill>
                <a:latin typeface="PMingLiU"/>
                <a:ea typeface="PMingLiU"/>
                <a:cs typeface="PMingLiU"/>
              </a:rPr>
              <a:t>✦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12DD92DC-9457-476C-9A77-18C157073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7744" y="256032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0">
                <a:solidFill>
                  <a:srgbClr val="91662C"/>
                </a:solidFill>
                <a:latin typeface="PMingLiU"/>
                <a:ea typeface="PMingLiU"/>
                <a:cs typeface="PMingLiU"/>
              </a:rPr>
              <a:t>❧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8F37744D-7202-4A83-8EA8-6D32F51B9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" y="6428232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0">
                <a:solidFill>
                  <a:srgbClr val="91662C"/>
                </a:solidFill>
                <a:latin typeface="PMingLiU"/>
                <a:ea typeface="PMingLiU"/>
                <a:cs typeface="PMingLiU"/>
              </a:rPr>
              <a:t>✦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55CB26E6-5FA9-49F8-8107-B6F5F0E63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7744" y="6428232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0">
                <a:solidFill>
                  <a:srgbClr val="91662C"/>
                </a:solidFill>
                <a:latin typeface="PMingLiU"/>
                <a:ea typeface="PMingLiU"/>
                <a:cs typeface="PMingLiU"/>
              </a:rPr>
              <a:t>❧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1C99A3A9-C9E7-475F-BFEB-DB1D9D354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11480"/>
            <a:ext cx="10972800" cy="579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>
            <a:defPPr>
              <a:defRPr sz="2400"/>
            </a:defPPr>
          </a:lstStyle>
          <a:p xmlns:a="http://schemas.openxmlformats.org/drawingml/2006/main">
            <a:r>
              <a:rPr sz="2400" b="1">
                <a:solidFill>
                  <a:srgbClr val="4A3526"/>
                </a:solidFill>
                <a:latin typeface="PMingLiU"/>
                <a:ea typeface="PMingLiU"/>
                <a:cs typeface="PMingLiU"/>
              </a:rPr>
              <a:t>教育科技證據：目標、練習、回饋、評量、教師端</a:t>
            </a:r>
            <a:endParaRPr sz="3200" b="1">
              <a:solidFill>
                <a:srgbClr val="4A3526"/>
              </a:solidFill>
              <a:latin typeface="PMingLiU"/>
              <a:ea typeface="PMingLiU"/>
              <a:cs typeface="PMingLiU"/>
            </a:endParaRPr>
          </a:p>
        </p:txBody>
      </p:sp>
      <p:pic>
        <p:nvPicPr>
          <p:cNvPr id="11" name="Picture 10">
            <a:extLst xmlns:a="http://schemas.openxmlformats.org/drawingml/2006/main">
              <a:ext uri="{FF2B5EF4-FFF2-40B4-BE49-F238E27FC236}">
                <a16:creationId xmlns:a16="http://schemas.microsoft.com/office/drawing/2014/main" id="{0B035049-4ABA-4D2D-9F5B-5330629800C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550fc4f5634066"/>
          <a:srcRect xmlns:a="http://schemas.openxmlformats.org/drawingml/2006/main" l="0" t="30000" r="0" b="35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24840" y="1795685"/>
            <a:ext cx="6213922" cy="3639580"/>
          </a:xfrm>
          <a:prstGeom xmlns:a="http://schemas.openxmlformats.org/drawingml/2006/main" prst="rect">
            <a:avLst/>
          </a:prstGeom>
          <a:ln xmlns:a="http://schemas.openxmlformats.org/drawingml/2006/main" w="15240">
            <a:solidFill>
              <a:srgbClr val="91662C"/>
            </a:solidFill>
          </a:ln>
        </p:spPr>
      </p:pic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A150C49A-94C8-42DF-B94A-73B529445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61376" y="1346501"/>
            <a:ext cx="1867440" cy="2754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9E9"/>
          </a:solidFill>
          <a:ln xmlns:a="http://schemas.openxmlformats.org/drawingml/2006/main" w="13970">
            <a:solidFill>
              <a:srgbClr val="91662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Oval 12">
            <a:extLst xmlns:a="http://schemas.openxmlformats.org/drawingml/2006/main">
              <a:ext uri="{FF2B5EF4-FFF2-40B4-BE49-F238E27FC236}">
                <a16:creationId xmlns:a16="http://schemas.microsoft.com/office/drawing/2014/main" id="{FACB52EB-9174-4396-8718-36F7AAD9F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57415" y="1466552"/>
            <a:ext cx="266777" cy="3530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202F"/>
          </a:solidFill>
          <a:ln xmlns:a="http://schemas.openxmlformats.org/drawingml/2006/main">
            <a:solidFill>
              <a:srgbClr val="B58943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DD8D480A-333B-4277-A3A9-F18FAD2EB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57415" y="1508923"/>
            <a:ext cx="266777" cy="155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B58943"/>
                </a:solidFill>
                <a:latin typeface="PMingLiU"/>
                <a:ea typeface="PMingLiU"/>
                <a:cs typeface="PMingLiU"/>
              </a:rPr>
              <a:t>1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D158DF6C-0C94-4F14-876E-40357AF1A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77548" y="1445366"/>
            <a:ext cx="1360563" cy="426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2200" b="1">
                <a:solidFill>
                  <a:srgbClr val="4A3526"/>
                </a:solidFill>
                <a:latin typeface="PMingLiU"/>
                <a:ea typeface="PMingLiU"/>
                <a:cs typeface="PMingLiU"/>
              </a:rPr>
              <a:t>學習目標</a:t>
            </a:r>
            <a:endParaRPr sz="2200" b="1">
              <a:solidFill>
                <a:srgbClr val="4A3526"/>
              </a:solidFill>
              <a:latin typeface="PMingLiU"/>
              <a:ea typeface="PMingLiU"/>
              <a:cs typeface="PMingLiU"/>
            </a:endParaR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EAB08FBC-0A68-4934-B779-30D9A024A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10771" y="1840829"/>
            <a:ext cx="1627340" cy="16824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9728" tIns="18288" rIns="73152" bIns="18288">
            <a:normAutofit fontScale="100000"/>
          </a:bodyPr>
          <a:lstStyle xmlns:a="http://schemas.openxmlformats.org/drawingml/2006/main">
            <a:defPPr>
              <a:defRPr sz="1275"/>
            </a:def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3B2B1B"/>
                </a:solidFill>
                <a:latin typeface="Noto Serif CJK TC"/>
                <a:ea typeface="Noto Serif CJK TC"/>
                <a:cs typeface="Noto Serif CJK TC"/>
              </a:defRPr>
            </a:pPr>
            <a:r>
              <a:rPr sz="1275">
                <a:solidFill>
                  <a:srgbClr val="4A3526"/>
                </a:solidFill>
                <a:latin typeface="PMingLiU"/>
                <a:ea typeface="PMingLiU"/>
                <a:cs typeface="PMingLiU"/>
              </a:rPr>
              <a:t>指出至少 3 個風險線索</a:t>
            </a:r>
            <a:endParaRPr sz="1800">
              <a:solidFill>
                <a:srgbClr val="4A3526"/>
              </a:solidFill>
              <a:latin typeface="PMingLiU"/>
              <a:ea typeface="PMingLiU"/>
              <a:cs typeface="PMingLiU"/>
            </a:endParaRP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3B2B1B"/>
                </a:solidFill>
                <a:latin typeface="Noto Serif CJK TC"/>
                <a:ea typeface="Noto Serif CJK TC"/>
                <a:cs typeface="Noto Serif CJK TC"/>
              </a:defRPr>
            </a:pPr>
            <a:r>
              <a:rPr sz="1275">
                <a:solidFill>
                  <a:srgbClr val="4A3526"/>
                </a:solidFill>
                <a:latin typeface="PMingLiU"/>
                <a:ea typeface="PMingLiU"/>
                <a:cs typeface="PMingLiU"/>
              </a:rPr>
              <a:t>提出 3 個查證問題</a:t>
            </a:r>
            <a:endParaRPr sz="1800">
              <a:solidFill>
                <a:srgbClr val="4A3526"/>
              </a:solidFill>
              <a:latin typeface="PMingLiU"/>
              <a:ea typeface="PMingLiU"/>
              <a:cs typeface="PMingLiU"/>
            </a:endParaRP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3B2B1B"/>
                </a:solidFill>
                <a:latin typeface="Noto Serif CJK TC"/>
                <a:ea typeface="Noto Serif CJK TC"/>
                <a:cs typeface="Noto Serif CJK TC"/>
              </a:defRPr>
            </a:pPr>
            <a:r>
              <a:rPr sz="1275">
                <a:solidFill>
                  <a:srgbClr val="4A3526"/>
                </a:solidFill>
                <a:latin typeface="PMingLiU"/>
                <a:ea typeface="PMingLiU"/>
                <a:cs typeface="PMingLiU"/>
              </a:rPr>
              <a:t>選擇一項安全行動</a:t>
            </a:r>
            <a:endParaRPr sz="1800">
              <a:solidFill>
                <a:srgbClr val="4A3526"/>
              </a:solidFill>
              <a:latin typeface="PMingLiU"/>
              <a:ea typeface="PMingLiU"/>
              <a:cs typeface="PMingLiU"/>
            </a:endParaRP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47AEFBE1-CA47-4E84-BCAE-F501C4564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448949" y="1346501"/>
            <a:ext cx="1867440" cy="2754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9E9"/>
          </a:solidFill>
          <a:ln xmlns:a="http://schemas.openxmlformats.org/drawingml/2006/main" w="13970">
            <a:solidFill>
              <a:srgbClr val="91662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Oval 17">
            <a:extLst xmlns:a="http://schemas.openxmlformats.org/drawingml/2006/main">
              <a:ext uri="{FF2B5EF4-FFF2-40B4-BE49-F238E27FC236}">
                <a16:creationId xmlns:a16="http://schemas.microsoft.com/office/drawing/2014/main" id="{6C690F5B-F4B8-444A-B40F-3706C60C3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544989" y="1466552"/>
            <a:ext cx="266777" cy="3530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202F"/>
          </a:solidFill>
          <a:ln xmlns:a="http://schemas.openxmlformats.org/drawingml/2006/main">
            <a:solidFill>
              <a:srgbClr val="B58943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0507B0D2-96FE-41FB-98A6-F5E52400B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544989" y="1508923"/>
            <a:ext cx="266777" cy="155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B58943"/>
                </a:solidFill>
                <a:latin typeface="PMingLiU"/>
                <a:ea typeface="PMingLiU"/>
                <a:cs typeface="PMingLiU"/>
              </a:rPr>
              <a:t>2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8964E6D7-7110-4E57-95E6-72F2CAAFE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865121" y="1445366"/>
            <a:ext cx="1360563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>
            <a:defPPr>
              <a:defRPr sz="1800"/>
            </a:defPPr>
          </a:lstStyle>
          <a:p xmlns:a="http://schemas.openxmlformats.org/drawingml/2006/main">
            <a:r>
              <a:rPr sz="1800" b="1">
                <a:solidFill>
                  <a:srgbClr val="4A3526"/>
                </a:solidFill>
                <a:latin typeface="PMingLiU"/>
                <a:ea typeface="PMingLiU"/>
                <a:cs typeface="PMingLiU"/>
              </a:rPr>
              <a:t>練習與回饋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05778188-AADA-4F76-BEFF-5E0386209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598343" y="2247900"/>
            <a:ext cx="1627346" cy="11338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9728" tIns="18288" rIns="73152" bIns="18288">
            <a:normAutofit fontScale="100000"/>
          </a:bodyPr>
          <a:lstStyle xmlns:a="http://schemas.openxmlformats.org/drawingml/2006/main">
            <a:defPPr>
              <a:defRPr sz="1200"/>
            </a:def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3B2B1B"/>
                </a:solidFill>
                <a:latin typeface="Noto Serif CJK TC"/>
                <a:ea typeface="Noto Serif CJK TC"/>
                <a:cs typeface="Noto Serif CJK TC"/>
              </a:defRPr>
            </a:pPr>
            <a:r>
              <a:rPr sz="1200">
                <a:solidFill>
                  <a:srgbClr val="4A3526"/>
                </a:solidFill>
                <a:latin typeface="PMingLiU"/>
                <a:ea typeface="PMingLiU"/>
                <a:cs typeface="PMingLiU"/>
              </a:rPr>
              <a:t>六個分支情境含正常案例；每題即時解釋理由。</a:t>
            </a:r>
            <a:endParaRPr sz="1800">
              <a:solidFill>
                <a:srgbClr val="4A3526"/>
              </a:solidFill>
              <a:latin typeface="PMingLiU"/>
              <a:ea typeface="PMingLiU"/>
              <a:cs typeface="PMingLiU"/>
            </a:endParaRPr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E7BF47F7-B0B9-4B18-A10D-C14877A1E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44146" y="4309445"/>
            <a:ext cx="4231574" cy="1451533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9E9"/>
          </a:solidFill>
          <a:ln xmlns:a="http://schemas.openxmlformats.org/drawingml/2006/main" w="13970">
            <a:solidFill>
              <a:srgbClr val="91662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" name="Oval 22">
            <a:extLst xmlns:a="http://schemas.openxmlformats.org/drawingml/2006/main">
              <a:ext uri="{FF2B5EF4-FFF2-40B4-BE49-F238E27FC236}">
                <a16:creationId xmlns:a16="http://schemas.microsoft.com/office/drawing/2014/main" id="{5F179388-4385-4CC2-8DCB-337FC60DC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29186" y="4423336"/>
            <a:ext cx="468986" cy="3100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202F"/>
          </a:solidFill>
          <a:ln xmlns:a="http://schemas.openxmlformats.org/drawingml/2006/main">
            <a:solidFill>
              <a:srgbClr val="B58943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26ECF949-E077-4740-AD87-5AFF7D935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98709" y="4471797"/>
            <a:ext cx="468986" cy="1364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B58943"/>
                </a:solidFill>
                <a:latin typeface="PMingLiU"/>
                <a:ea typeface="PMingLiU"/>
                <a:cs typeface="PMingLiU"/>
              </a:rPr>
              <a:t>3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37C1D82B-D922-414C-ACCC-FE415F050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00217" y="4377616"/>
            <a:ext cx="2391832" cy="426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2200" b="1">
                <a:solidFill>
                  <a:srgbClr val="4A3526"/>
                </a:solidFill>
                <a:latin typeface="PMingLiU"/>
                <a:ea typeface="PMingLiU"/>
                <a:cs typeface="PMingLiU"/>
              </a:rPr>
              <a:t>學習證據</a:t>
            </a:r>
            <a:endParaRPr sz="2200" b="1">
              <a:solidFill>
                <a:srgbClr val="4A3526"/>
              </a:solidFill>
              <a:latin typeface="PMingLiU"/>
              <a:ea typeface="PMingLiU"/>
              <a:cs typeface="PMingLiU"/>
            </a:endParaRP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4F5D95DB-359C-4AF1-AA2A-CD8F531B3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44147" y="4806556"/>
            <a:ext cx="4231572" cy="8595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9728" tIns="18288" rIns="73152" bIns="18288">
            <a:normAutofit fontScale="100000"/>
          </a:bodyPr>
          <a:lstStyle xmlns:a="http://schemas.openxmlformats.org/drawingml/2006/main">
            <a:defPPr>
              <a:defRPr sz="1275"/>
            </a:def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3B2B1B"/>
                </a:solidFill>
                <a:latin typeface="Noto Serif CJK TC"/>
                <a:ea typeface="Noto Serif CJK TC"/>
                <a:cs typeface="Noto Serif CJK TC"/>
              </a:defRPr>
            </a:pPr>
            <a:r>
              <a:rPr sz="1275">
                <a:solidFill>
                  <a:srgbClr val="4A3526"/>
                </a:solidFill>
                <a:latin typeface="PMingLiU"/>
                <a:ea typeface="PMingLiU"/>
                <a:cs typeface="PMingLiU"/>
              </a:rPr>
              <a:t>5 題前測＋5 題後測</a:t>
            </a:r>
            <a:endParaRPr sz="1800">
              <a:solidFill>
                <a:srgbClr val="4A3526"/>
              </a:solidFill>
              <a:latin typeface="PMingLiU"/>
              <a:ea typeface="PMingLiU"/>
              <a:cs typeface="PMingLiU"/>
            </a:endParaRP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3B2B1B"/>
                </a:solidFill>
                <a:latin typeface="Noto Serif CJK TC"/>
                <a:ea typeface="Noto Serif CJK TC"/>
                <a:cs typeface="Noto Serif CJK TC"/>
              </a:defRPr>
            </a:pPr>
            <a:r>
              <a:rPr sz="1275">
                <a:solidFill>
                  <a:srgbClr val="4A3526"/>
                </a:solidFill>
                <a:latin typeface="PMingLiU"/>
                <a:ea typeface="PMingLiU"/>
                <a:cs typeface="PMingLiU"/>
              </a:rPr>
              <a:t>進步幅度與常忽略線索</a:t>
            </a:r>
            <a:endParaRPr sz="1800">
              <a:solidFill>
                <a:srgbClr val="4A3526"/>
              </a:solidFill>
              <a:latin typeface="PMingLiU"/>
              <a:ea typeface="PMingLiU"/>
              <a:cs typeface="PMingLiU"/>
            </a:endParaRP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3B2B1B"/>
                </a:solidFill>
                <a:latin typeface="Noto Serif CJK TC"/>
                <a:ea typeface="Noto Serif CJK TC"/>
                <a:cs typeface="Noto Serif CJK TC"/>
              </a:defRPr>
            </a:pPr>
            <a:r>
              <a:rPr sz="1275">
                <a:solidFill>
                  <a:srgbClr val="4A3526"/>
                </a:solidFill>
                <a:latin typeface="PMingLiU"/>
                <a:ea typeface="PMingLiU"/>
                <a:cs typeface="PMingLiU"/>
              </a:rPr>
              <a:t>教師匿名統計</a:t>
            </a:r>
            <a:endParaRPr sz="1800">
              <a:solidFill>
                <a:srgbClr val="4A3526"/>
              </a:solidFill>
              <a:latin typeface="PMingLiU"/>
              <a:ea typeface="PMingLiU"/>
              <a:cs typeface="PMingLiU"/>
            </a:endParaRPr>
          </a:p>
        </p:txBody>
      </p:sp>
      <p:sp>
        <p:nvSpPr>
          <p:cNvPr id="27" name="Rounded Rectangle 26">
            <a:extLst xmlns:a="http://schemas.openxmlformats.org/drawingml/2006/main">
              <a:ext uri="{FF2B5EF4-FFF2-40B4-BE49-F238E27FC236}">
                <a16:creationId xmlns:a16="http://schemas.microsoft.com/office/drawing/2014/main" id="{A0CC3A57-97FB-4C1A-9110-6D2B46161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989320"/>
            <a:ext cx="11018520" cy="475488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91662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E2E73064-2D05-4B32-B53A-758941CD5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6089904"/>
            <a:ext cx="1046988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>
            <a:defPPr>
              <a:defRPr sz="1500"/>
            </a:defPPr>
          </a:lstStyle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4A3526"/>
                </a:solidFill>
                <a:latin typeface="PMingLiU"/>
                <a:ea typeface="PMingLiU"/>
                <a:cs typeface="PMingLiU"/>
              </a:rPr>
              <a:t>教育成效只引用真實匿名試用；Demo 數字不當作研究結果。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33DDD36D-19F9-49B3-BF6B-E0CCF5E94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336792"/>
            <a:ext cx="502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0">
                <a:solidFill>
                  <a:srgbClr val="4A3526"/>
                </a:solidFill>
                <a:latin typeface="PMingLiU"/>
                <a:ea typeface="PMingLiU"/>
                <a:cs typeface="PMingLiU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26253969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4962880-DAF0-4183-BD1B-1810B7A7F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99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2F"/>
          </a:solidFill>
          <a:ln xmlns:a="http://schemas.openxmlformats.org/drawingml/2006/main">
            <a:solidFill>
              <a:srgbClr val="08202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D989EBAF-CC23-449A-A53B-4590648CD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" y="146304"/>
            <a:ext cx="11899391" cy="65653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B58943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0C2EE9A-EC27-406F-ACDB-4BDDCB0CD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" y="219456"/>
            <a:ext cx="11753087" cy="6419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B58943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46480273-FB58-420C-AE4E-A33CA9D78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" y="256032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0">
                <a:solidFill>
                  <a:srgbClr val="B58943"/>
                </a:solidFill>
                <a:latin typeface="PMingLiU"/>
                <a:ea typeface="PMingLiU"/>
                <a:cs typeface="PMingLiU"/>
              </a:rPr>
              <a:t>✦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2895B315-1F36-4328-85D8-5D798A78D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7744" y="256032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0">
                <a:solidFill>
                  <a:srgbClr val="B58943"/>
                </a:solidFill>
                <a:latin typeface="PMingLiU"/>
                <a:ea typeface="PMingLiU"/>
                <a:cs typeface="PMingLiU"/>
              </a:rPr>
              <a:t>❧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873AA27D-265F-4501-A309-B317481DE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" y="6428232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0">
                <a:solidFill>
                  <a:srgbClr val="B58943"/>
                </a:solidFill>
                <a:latin typeface="PMingLiU"/>
                <a:ea typeface="PMingLiU"/>
                <a:cs typeface="PMingLiU"/>
              </a:rPr>
              <a:t>✦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7EF02AF7-922B-4CB9-BCEC-326D9245F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7744" y="6428232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0">
                <a:solidFill>
                  <a:srgbClr val="B58943"/>
                </a:solidFill>
                <a:latin typeface="PMingLiU"/>
                <a:ea typeface="PMingLiU"/>
                <a:cs typeface="PMingLiU"/>
              </a:rPr>
              <a:t>❧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F24A58E7-6666-428E-8A52-223DB563A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11480"/>
            <a:ext cx="10972800" cy="579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>
            <a:defPPr>
              <a:defRPr sz="2400"/>
            </a:defPPr>
          </a:lstStyle>
          <a:p xmlns:a="http://schemas.openxmlformats.org/drawingml/2006/main">
            <a:r>
              <a:rPr sz="2400" b="1">
                <a:solidFill>
                  <a:srgbClr val="F7EDD8"/>
                </a:solidFill>
                <a:latin typeface="PMingLiU"/>
                <a:ea typeface="PMingLiU"/>
                <a:cs typeface="PMingLiU"/>
              </a:rPr>
              <a:t>應用情境：從學生操作到教師教學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D38EE3C1-66BE-45CA-8E66-EEBC77741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060704"/>
            <a:ext cx="10789920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>
            <a:defPPr>
              <a:defRPr sz="1350"/>
            </a:defPPr>
          </a:lstStyle>
          <a:p xmlns:a="http://schemas.openxmlformats.org/drawingml/2006/main">
            <a:r>
              <a:rPr sz="1350" b="1">
                <a:solidFill>
                  <a:srgbClr val="B58943"/>
                </a:solidFill>
                <a:latin typeface="PMingLiU"/>
                <a:ea typeface="PMingLiU"/>
                <a:cs typeface="PMingLiU"/>
              </a:rPr>
              <a:t>每個情境都產生可觀察的學習證據</a:t>
            </a:r>
          </a:p>
        </p:txBody>
      </p:sp>
      <p:pic>
        <p:nvPicPr>
          <p:cNvPr id="11" name="Picture 10">
            <a:extLst xmlns:a="http://schemas.openxmlformats.org/drawingml/2006/main">
              <a:ext uri="{FF2B5EF4-FFF2-40B4-BE49-F238E27FC236}">
                <a16:creationId xmlns:a16="http://schemas.microsoft.com/office/drawing/2014/main" id="{F8F41BB7-53B5-423C-86AF-F83B92ACE81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66a8d6a9214b4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1627632"/>
            <a:ext cx="5577840" cy="4069080"/>
          </a:xfrm>
          <a:prstGeom xmlns:a="http://schemas.openxmlformats.org/drawingml/2006/main" prst="rect">
            <a:avLst/>
          </a:prstGeom>
          <a:ln xmlns:a="http://schemas.openxmlformats.org/drawingml/2006/main" w="15240">
            <a:solidFill>
              <a:srgbClr val="B58943"/>
            </a:solidFill>
          </a:ln>
        </p:spPr>
      </p:pic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5BDB8A07-78C1-4A23-9E83-94806D3FB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1700784"/>
            <a:ext cx="2514600" cy="18053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AF4E2"/>
          </a:solidFill>
          <a:ln xmlns:a="http://schemas.openxmlformats.org/drawingml/2006/main" w="13970">
            <a:solidFill>
              <a:srgbClr val="B58943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Oval 12">
            <a:extLst xmlns:a="http://schemas.openxmlformats.org/drawingml/2006/main">
              <a:ext uri="{FF2B5EF4-FFF2-40B4-BE49-F238E27FC236}">
                <a16:creationId xmlns:a16="http://schemas.microsoft.com/office/drawing/2014/main" id="{C1FAD2A7-B47E-4630-9270-02487BB3A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73952" y="1898788"/>
            <a:ext cx="457200" cy="5823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93B"/>
          </a:solidFill>
          <a:ln xmlns:a="http://schemas.openxmlformats.org/drawingml/2006/main">
            <a:solidFill>
              <a:srgbClr val="B58943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FDD6380E-9851-42A9-BA6B-CE345BA1F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73952" y="1942903"/>
            <a:ext cx="457200" cy="307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B58943"/>
                </a:solidFill>
                <a:latin typeface="PMingLiU"/>
                <a:ea typeface="PMingLiU"/>
                <a:cs typeface="PMingLiU"/>
              </a:rPr>
              <a:t>1</a:t>
            </a:r>
            <a:endParaRPr sz="1400" b="1">
              <a:solidFill>
                <a:srgbClr val="B58943"/>
              </a:solidFill>
              <a:latin typeface="PMingLiU"/>
              <a:ea typeface="PMingLiU"/>
              <a:cs typeface="PMingLiU"/>
            </a:endParaR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1D180502-1475-4E36-8016-5ABD71606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22592" y="1863846"/>
            <a:ext cx="1645920" cy="5823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900" b="1">
                <a:solidFill>
                  <a:srgbClr val="3B2B1B"/>
                </a:solidFill>
                <a:latin typeface="PMingLiU"/>
                <a:ea typeface="PMingLiU"/>
                <a:cs typeface="PMingLiU"/>
              </a:rPr>
              <a:t>校園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B04F1A3C-A1B3-42AF-9F1C-C1F3C2768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65392" y="2516094"/>
            <a:ext cx="21031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>
            <a:defPPr>
              <a:defRPr sz="1200"/>
            </a:defPPr>
          </a:lstStyle>
          <a:p xmlns:a="http://schemas.openxmlformats.org/drawingml/2006/main">
            <a:pPr>
              <a:buNone/>
              <a:defRPr sz="1600">
                <a:solidFill>
                  <a:srgbClr val="3B2B1B"/>
                </a:solidFill>
                <a:latin typeface="Noto Serif CJK TC"/>
                <a:ea typeface="Noto Serif CJK TC"/>
                <a:cs typeface="Noto Serif CJK TC"/>
              </a:defRPr>
            </a:pPr>
            <a:r>
              <a:rPr sz="1200">
                <a:latin typeface="PMingLiU"/>
                <a:ea typeface="PMingLiU"/>
                <a:cs typeface="PMingLiU"/>
              </a:rPr>
              <a:t>班會與資訊素養課</a:t>
            </a:r>
            <a:endParaRPr>
              <a:latin typeface="PMingLiU"/>
              <a:ea typeface="PMingLiU"/>
              <a:cs typeface="PMingLiU"/>
            </a:endParaRPr>
          </a:p>
          <a:p xmlns:a="http://schemas.openxmlformats.org/drawingml/2006/main">
            <a:pPr>
              <a:buNone/>
              <a:defRPr sz="1600">
                <a:solidFill>
                  <a:srgbClr val="3B2B1B"/>
                </a:solidFill>
                <a:latin typeface="Noto Serif CJK TC"/>
                <a:ea typeface="Noto Serif CJK TC"/>
                <a:cs typeface="Noto Serif CJK TC"/>
              </a:defRPr>
            </a:pPr>
            <a:r>
              <a:rPr sz="1200">
                <a:latin typeface="PMingLiU"/>
                <a:ea typeface="PMingLiU"/>
                <a:cs typeface="PMingLiU"/>
              </a:rPr>
              <a:t>分支闖關＋前後測</a:t>
            </a:r>
            <a:endParaRPr>
              <a:latin typeface="PMingLiU"/>
              <a:ea typeface="PMingLiU"/>
              <a:cs typeface="PMingLiU"/>
            </a:endParaRPr>
          </a:p>
          <a:p xmlns:a="http://schemas.openxmlformats.org/drawingml/2006/main">
            <a:pPr>
              <a:buNone/>
              <a:defRPr sz="1600">
                <a:solidFill>
                  <a:srgbClr val="3B2B1B"/>
                </a:solidFill>
                <a:latin typeface="Noto Serif CJK TC"/>
                <a:ea typeface="Noto Serif CJK TC"/>
                <a:cs typeface="Noto Serif CJK TC"/>
              </a:defRPr>
            </a:pPr>
            <a:r>
              <a:rPr sz="1200">
                <a:latin typeface="PMingLiU"/>
                <a:ea typeface="PMingLiU"/>
                <a:cs typeface="PMingLiU"/>
              </a:rPr>
              <a:t>匿名學習護照</a:t>
            </a:r>
            <a:endParaRPr>
              <a:latin typeface="PMingLiU"/>
              <a:ea typeface="PMingLiU"/>
              <a:cs typeface="PMingLiU"/>
            </a:endParaRP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F0247258-EAD9-4672-95A1-B85F622D2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98280" y="1700784"/>
            <a:ext cx="2514600" cy="18053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AF4E2"/>
          </a:solidFill>
          <a:ln xmlns:a="http://schemas.openxmlformats.org/drawingml/2006/main" w="13970">
            <a:solidFill>
              <a:srgbClr val="B58943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Oval 17">
            <a:extLst xmlns:a="http://schemas.openxmlformats.org/drawingml/2006/main">
              <a:ext uri="{FF2B5EF4-FFF2-40B4-BE49-F238E27FC236}">
                <a16:creationId xmlns:a16="http://schemas.microsoft.com/office/drawing/2014/main" id="{045E2F63-2FFB-4718-B2BB-756F7D8FB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262872" y="1898788"/>
            <a:ext cx="457200" cy="5823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93B"/>
          </a:solidFill>
          <a:ln xmlns:a="http://schemas.openxmlformats.org/drawingml/2006/main">
            <a:solidFill>
              <a:srgbClr val="B58943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BFAB8C7B-706F-4043-AA6A-21526AAD0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262872" y="1942903"/>
            <a:ext cx="457200" cy="307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B58943"/>
                </a:solidFill>
                <a:latin typeface="PMingLiU"/>
                <a:ea typeface="PMingLiU"/>
                <a:cs typeface="PMingLiU"/>
              </a:rPr>
              <a:t>2</a:t>
            </a:r>
            <a:endParaRPr sz="1400" b="1">
              <a:solidFill>
                <a:srgbClr val="B58943"/>
              </a:solidFill>
              <a:latin typeface="PMingLiU"/>
              <a:ea typeface="PMingLiU"/>
              <a:cs typeface="PMingLiU"/>
            </a:endParaRP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F2D985D9-C6A3-4E90-AF85-E52D3AC79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811511" y="1863846"/>
            <a:ext cx="1645920" cy="5823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900" b="1">
                <a:solidFill>
                  <a:srgbClr val="3B2B1B"/>
                </a:solidFill>
                <a:latin typeface="PMingLiU"/>
                <a:ea typeface="PMingLiU"/>
                <a:cs typeface="PMingLiU"/>
              </a:rPr>
              <a:t>家庭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335E10E3-EBCC-4985-B3C4-97C91402C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54311" y="2516094"/>
            <a:ext cx="2103120" cy="1066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>
            <a:defPPr>
              <a:defRPr sz="1200"/>
            </a:defPPr>
          </a:lstStyle>
          <a:p xmlns:a="http://schemas.openxmlformats.org/drawingml/2006/main">
            <a:pPr>
              <a:buNone/>
              <a:defRPr sz="1600">
                <a:solidFill>
                  <a:srgbClr val="3B2B1B"/>
                </a:solidFill>
                <a:latin typeface="Noto Serif CJK TC"/>
                <a:ea typeface="Noto Serif CJK TC"/>
                <a:cs typeface="Noto Serif CJK TC"/>
              </a:defRPr>
            </a:pPr>
            <a:r>
              <a:rPr sz="1200">
                <a:latin typeface="PMingLiU"/>
                <a:ea typeface="PMingLiU"/>
                <a:cs typeface="PMingLiU"/>
              </a:rPr>
              <a:t>親子／長者共同查證</a:t>
            </a:r>
          </a:p>
          <a:p xmlns:a="http://schemas.openxmlformats.org/drawingml/2006/main">
            <a:pPr>
              <a:buNone/>
              <a:defRPr sz="1600">
                <a:solidFill>
                  <a:srgbClr val="3B2B1B"/>
                </a:solidFill>
                <a:latin typeface="Noto Serif CJK TC"/>
                <a:ea typeface="Noto Serif CJK TC"/>
                <a:cs typeface="Noto Serif CJK TC"/>
              </a:defRPr>
            </a:pPr>
            <a:r>
              <a:rPr sz="1200">
                <a:latin typeface="PMingLiU"/>
                <a:ea typeface="PMingLiU"/>
                <a:cs typeface="PMingLiU"/>
              </a:rPr>
              <a:t>大字高對比介面</a:t>
            </a:r>
          </a:p>
          <a:p xmlns:a="http://schemas.openxmlformats.org/drawingml/2006/main">
            <a:pPr>
              <a:buNone/>
              <a:defRPr sz="1600">
                <a:solidFill>
                  <a:srgbClr val="3B2B1B"/>
                </a:solidFill>
                <a:latin typeface="Noto Serif CJK TC"/>
                <a:ea typeface="Noto Serif CJK TC"/>
                <a:cs typeface="Noto Serif CJK TC"/>
              </a:defRPr>
            </a:pPr>
            <a:r>
              <a:rPr sz="1200">
                <a:latin typeface="PMingLiU"/>
                <a:ea typeface="PMingLiU"/>
                <a:cs typeface="PMingLiU"/>
              </a:rPr>
              <a:t>求助摘要交可信任成人</a:t>
            </a:r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9C0C1B51-0368-4BFD-A09A-0BBA4947F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3832236"/>
            <a:ext cx="2514600" cy="18053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AF4E2"/>
          </a:solidFill>
          <a:ln xmlns:a="http://schemas.openxmlformats.org/drawingml/2006/main" w="13970">
            <a:solidFill>
              <a:srgbClr val="B58943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" name="Oval 22">
            <a:extLst xmlns:a="http://schemas.openxmlformats.org/drawingml/2006/main">
              <a:ext uri="{FF2B5EF4-FFF2-40B4-BE49-F238E27FC236}">
                <a16:creationId xmlns:a16="http://schemas.microsoft.com/office/drawing/2014/main" id="{29B597E9-4B1D-4792-90FF-504255C3A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73952" y="4030240"/>
            <a:ext cx="457200" cy="5823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93B"/>
          </a:solidFill>
          <a:ln xmlns:a="http://schemas.openxmlformats.org/drawingml/2006/main">
            <a:solidFill>
              <a:srgbClr val="B58943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C1B91524-CF56-4921-842F-601E9903A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73952" y="4074356"/>
            <a:ext cx="457200" cy="307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B58943"/>
                </a:solidFill>
                <a:latin typeface="PMingLiU"/>
                <a:ea typeface="PMingLiU"/>
                <a:cs typeface="PMingLiU"/>
              </a:rPr>
              <a:t>3</a:t>
            </a:r>
            <a:endParaRPr sz="1400" b="1">
              <a:solidFill>
                <a:srgbClr val="B58943"/>
              </a:solidFill>
              <a:latin typeface="PMingLiU"/>
              <a:ea typeface="PMingLiU"/>
              <a:cs typeface="PMingLiU"/>
            </a:endParaRP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AFF43331-6430-4EC5-B9F4-1578DEB46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22592" y="3995298"/>
            <a:ext cx="1645920" cy="5823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900" b="1">
                <a:solidFill>
                  <a:srgbClr val="3B2B1B"/>
                </a:solidFill>
                <a:latin typeface="PMingLiU"/>
                <a:ea typeface="PMingLiU"/>
                <a:cs typeface="PMingLiU"/>
              </a:rPr>
              <a:t>社區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F4096A6E-91B4-41E3-9F18-A0A34673F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65392" y="4647546"/>
            <a:ext cx="21031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>
            <a:defPPr>
              <a:defRPr sz="1200"/>
            </a:defPPr>
          </a:lstStyle>
          <a:p xmlns:a="http://schemas.openxmlformats.org/drawingml/2006/main">
            <a:pPr>
              <a:buNone/>
              <a:defRPr sz="1600">
                <a:solidFill>
                  <a:srgbClr val="3B2B1B"/>
                </a:solidFill>
                <a:latin typeface="Noto Serif CJK TC"/>
                <a:ea typeface="Noto Serif CJK TC"/>
                <a:cs typeface="Noto Serif CJK TC"/>
              </a:defRPr>
            </a:pPr>
            <a:r>
              <a:rPr sz="1200">
                <a:latin typeface="PMingLiU"/>
                <a:ea typeface="PMingLiU"/>
                <a:cs typeface="PMingLiU"/>
              </a:rPr>
              <a:t>講座後立即練習</a:t>
            </a:r>
          </a:p>
          <a:p xmlns:a="http://schemas.openxmlformats.org/drawingml/2006/main">
            <a:pPr>
              <a:buNone/>
              <a:defRPr sz="1600">
                <a:solidFill>
                  <a:srgbClr val="3B2B1B"/>
                </a:solidFill>
                <a:latin typeface="Noto Serif CJK TC"/>
                <a:ea typeface="Noto Serif CJK TC"/>
                <a:cs typeface="Noto Serif CJK TC"/>
              </a:defRPr>
            </a:pPr>
            <a:r>
              <a:rPr sz="1200">
                <a:latin typeface="PMingLiU"/>
                <a:ea typeface="PMingLiU"/>
                <a:cs typeface="PMingLiU"/>
              </a:rPr>
              <a:t>單檔離線展示</a:t>
            </a:r>
          </a:p>
          <a:p xmlns:a="http://schemas.openxmlformats.org/drawingml/2006/main">
            <a:pPr>
              <a:buNone/>
              <a:defRPr sz="1600">
                <a:solidFill>
                  <a:srgbClr val="3B2B1B"/>
                </a:solidFill>
                <a:latin typeface="Noto Serif CJK TC"/>
                <a:ea typeface="Noto Serif CJK TC"/>
                <a:cs typeface="Noto Serif CJK TC"/>
              </a:defRPr>
            </a:pPr>
            <a:r>
              <a:rPr sz="1200">
                <a:latin typeface="PMingLiU"/>
                <a:ea typeface="PMingLiU"/>
                <a:cs typeface="PMingLiU"/>
              </a:rPr>
              <a:t>連結 165 官方資源</a:t>
            </a:r>
          </a:p>
        </p:txBody>
      </p:sp>
      <p:sp>
        <p:nvSpPr>
          <p:cNvPr id="27" name="Rounded Rectangle 26">
            <a:extLst xmlns:a="http://schemas.openxmlformats.org/drawingml/2006/main">
              <a:ext uri="{FF2B5EF4-FFF2-40B4-BE49-F238E27FC236}">
                <a16:creationId xmlns:a16="http://schemas.microsoft.com/office/drawing/2014/main" id="{B594DAF9-FB34-4655-BBD5-06B210198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98280" y="3832236"/>
            <a:ext cx="2514600" cy="18053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AF4E2"/>
          </a:solidFill>
          <a:ln xmlns:a="http://schemas.openxmlformats.org/drawingml/2006/main" w="13970">
            <a:solidFill>
              <a:srgbClr val="B58943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8" name="Oval 27">
            <a:extLst xmlns:a="http://schemas.openxmlformats.org/drawingml/2006/main">
              <a:ext uri="{FF2B5EF4-FFF2-40B4-BE49-F238E27FC236}">
                <a16:creationId xmlns:a16="http://schemas.microsoft.com/office/drawing/2014/main" id="{9366C544-D519-45E6-9D47-77AD99833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262872" y="4030240"/>
            <a:ext cx="457200" cy="5823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93B"/>
          </a:solidFill>
          <a:ln xmlns:a="http://schemas.openxmlformats.org/drawingml/2006/main">
            <a:solidFill>
              <a:srgbClr val="B58943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7C4DFBB9-80CC-45D8-BC9A-66B3428EA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262872" y="4074356"/>
            <a:ext cx="457200" cy="307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B58943"/>
                </a:solidFill>
                <a:latin typeface="PMingLiU"/>
                <a:ea typeface="PMingLiU"/>
                <a:cs typeface="PMingLiU"/>
              </a:rPr>
              <a:t>4</a:t>
            </a:r>
            <a:endParaRPr sz="1400" b="1">
              <a:solidFill>
                <a:srgbClr val="B58943"/>
              </a:solidFill>
              <a:latin typeface="PMingLiU"/>
              <a:ea typeface="PMingLiU"/>
              <a:cs typeface="PMingLiU"/>
            </a:endParaRP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E978F536-91AD-45F3-9DAE-229EE6F64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811511" y="3995298"/>
            <a:ext cx="164592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900" b="1">
                <a:solidFill>
                  <a:srgbClr val="3B2B1B"/>
                </a:solidFill>
                <a:latin typeface="PMingLiU"/>
                <a:ea typeface="PMingLiU"/>
                <a:cs typeface="PMingLiU"/>
              </a:rPr>
              <a:t>教師／班級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79AC5ADD-D187-48E6-864D-D57422EA5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54311" y="4647546"/>
            <a:ext cx="2103120" cy="1066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>
            <a:defPPr>
              <a:defRPr sz="1200"/>
            </a:defPPr>
          </a:lstStyle>
          <a:p xmlns:a="http://schemas.openxmlformats.org/drawingml/2006/main">
            <a:pPr>
              <a:buNone/>
              <a:defRPr sz="1600">
                <a:solidFill>
                  <a:srgbClr val="3B2B1B"/>
                </a:solidFill>
                <a:latin typeface="Noto Serif CJK TC"/>
                <a:ea typeface="Noto Serif CJK TC"/>
                <a:cs typeface="Noto Serif CJK TC"/>
              </a:defRPr>
            </a:pPr>
            <a:r>
              <a:rPr sz="1200">
                <a:latin typeface="PMingLiU"/>
                <a:ea typeface="PMingLiU"/>
                <a:cs typeface="PMingLiU"/>
              </a:rPr>
              <a:t>班級代碼與情境包</a:t>
            </a:r>
          </a:p>
          <a:p xmlns:a="http://schemas.openxmlformats.org/drawingml/2006/main">
            <a:pPr>
              <a:buNone/>
              <a:defRPr sz="1600">
                <a:solidFill>
                  <a:srgbClr val="3B2B1B"/>
                </a:solidFill>
                <a:latin typeface="Noto Serif CJK TC"/>
                <a:ea typeface="Noto Serif CJK TC"/>
                <a:cs typeface="Noto Serif CJK TC"/>
              </a:defRPr>
            </a:pPr>
            <a:r>
              <a:rPr sz="1200">
                <a:latin typeface="PMingLiU"/>
                <a:ea typeface="PMingLiU"/>
                <a:cs typeface="PMingLiU"/>
              </a:rPr>
              <a:t>查看完成率與常錯概念</a:t>
            </a:r>
          </a:p>
          <a:p xmlns:a="http://schemas.openxmlformats.org/drawingml/2006/main">
            <a:pPr>
              <a:buNone/>
              <a:defRPr sz="1600">
                <a:solidFill>
                  <a:srgbClr val="3B2B1B"/>
                </a:solidFill>
                <a:latin typeface="Noto Serif CJK TC"/>
                <a:ea typeface="Noto Serif CJK TC"/>
                <a:cs typeface="Noto Serif CJK TC"/>
              </a:defRPr>
            </a:pPr>
            <a:r>
              <a:rPr sz="1200">
                <a:latin typeface="PMingLiU"/>
                <a:ea typeface="PMingLiU"/>
                <a:cs typeface="PMingLiU"/>
              </a:rPr>
              <a:t>不公開學生排名</a:t>
            </a:r>
          </a:p>
        </p:txBody>
      </p:sp>
      <p:sp>
        <p:nvSpPr>
          <p:cNvPr id="32" name="Rounded Rectangle 31">
            <a:extLst xmlns:a="http://schemas.openxmlformats.org/drawingml/2006/main">
              <a:ext uri="{FF2B5EF4-FFF2-40B4-BE49-F238E27FC236}">
                <a16:creationId xmlns:a16="http://schemas.microsoft.com/office/drawing/2014/main" id="{4D966083-067C-47D7-A6C9-2C017A032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989320"/>
            <a:ext cx="11018520" cy="475488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B58943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375AA684-3A98-4B83-8C5C-BA5E5D7A4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6089904"/>
            <a:ext cx="10469880" cy="350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>
            <a:defPPr>
              <a:defRPr sz="1500"/>
            </a:defPPr>
          </a:lstStyle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B58943"/>
                </a:solidFill>
                <a:latin typeface="PMingLiU"/>
                <a:ea typeface="PMingLiU"/>
                <a:cs typeface="PMingLiU"/>
              </a:rPr>
              <a:t>效益：把「記住一則詐騙」轉成「能在新情境中完成查證」。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486A12CD-4B51-4A64-BC55-3CBB605AE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336792"/>
            <a:ext cx="502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0">
                <a:solidFill>
                  <a:srgbClr val="4A3526"/>
                </a:solidFill>
                <a:latin typeface="PMingLiU"/>
                <a:ea typeface="PMingLiU"/>
                <a:cs typeface="PMingLiU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552217798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AFD8362-C1EA-4CD0-9807-FFE611EB2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99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4E2"/>
          </a:solidFill>
          <a:ln xmlns:a="http://schemas.openxmlformats.org/drawingml/2006/main">
            <a:solidFill>
              <a:srgbClr val="FAF4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E287EFDD-54BA-4137-A89C-94A028627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" y="146304"/>
            <a:ext cx="11899391" cy="65653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91662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E53DE1F-635D-44C2-9F50-A8D93B909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" y="219456"/>
            <a:ext cx="11753087" cy="6419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91662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F50F061-B8E0-4436-965B-D5A1052BF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" y="256032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0">
                <a:solidFill>
                  <a:srgbClr val="91662C"/>
                </a:solidFill>
                <a:latin typeface="PMingLiU"/>
                <a:ea typeface="PMingLiU"/>
                <a:cs typeface="PMingLiU"/>
              </a:rPr>
              <a:t>✦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B44A6223-C193-4763-A845-20B4ABCE6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7744" y="256032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0">
                <a:solidFill>
                  <a:srgbClr val="91662C"/>
                </a:solidFill>
                <a:latin typeface="PMingLiU"/>
                <a:ea typeface="PMingLiU"/>
                <a:cs typeface="PMingLiU"/>
              </a:rPr>
              <a:t>❧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2E97CBD0-3794-43DE-9B87-6CC7130EB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" y="6428232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0">
                <a:solidFill>
                  <a:srgbClr val="91662C"/>
                </a:solidFill>
                <a:latin typeface="PMingLiU"/>
                <a:ea typeface="PMingLiU"/>
                <a:cs typeface="PMingLiU"/>
              </a:rPr>
              <a:t>✦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25A96D04-D6D3-48AC-B3C5-567FC3307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7744" y="6428232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0">
                <a:solidFill>
                  <a:srgbClr val="91662C"/>
                </a:solidFill>
                <a:latin typeface="PMingLiU"/>
                <a:ea typeface="PMingLiU"/>
                <a:cs typeface="PMingLiU"/>
              </a:rPr>
              <a:t>❧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62E3664E-83F4-4BBE-B37D-E2CB81661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11480"/>
            <a:ext cx="10972800" cy="579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>
            <a:defPPr>
              <a:defRPr sz="2400"/>
            </a:defPPr>
          </a:lstStyle>
          <a:p xmlns:a="http://schemas.openxmlformats.org/drawingml/2006/main">
            <a:r>
              <a:rPr sz="2400" b="1">
                <a:solidFill>
                  <a:srgbClr val="4A3526"/>
                </a:solidFill>
                <a:latin typeface="PMingLiU"/>
                <a:ea typeface="PMingLiU"/>
                <a:cs typeface="PMingLiU"/>
              </a:rPr>
              <a:t>目前驗證證據：已完成的與待完成的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5C76FC31-9F9A-4D12-BBE8-B9502338C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060704"/>
            <a:ext cx="10789920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>
            <a:defPPr>
              <a:defRPr sz="1350"/>
            </a:defPPr>
          </a:lstStyle>
          <a:p xmlns:a="http://schemas.openxmlformats.org/drawingml/2006/main">
            <a:r>
              <a:rPr sz="1350" b="1">
                <a:solidFill>
                  <a:srgbClr val="5A6D4A"/>
                </a:solidFill>
                <a:latin typeface="PMingLiU"/>
                <a:ea typeface="PMingLiU"/>
                <a:cs typeface="PMingLiU"/>
              </a:rPr>
              <a:t>程式測試、Demo 資料與真人成效分開呈現</a:t>
            </a:r>
            <a:endParaRPr sz="1600" b="1">
              <a:solidFill>
                <a:srgbClr val="5A6D4A"/>
              </a:solidFill>
              <a:latin typeface="PMingLiU"/>
              <a:ea typeface="PMingLiU"/>
              <a:cs typeface="PMingLiU"/>
            </a:endParaRP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10F5F158-BBCA-4468-AD57-C132173A7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00200"/>
            <a:ext cx="5212080" cy="17830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9E9"/>
          </a:solidFill>
          <a:ln xmlns:a="http://schemas.openxmlformats.org/drawingml/2006/main" w="13970">
            <a:solidFill>
              <a:srgbClr val="91662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Oval 12">
            <a:extLst xmlns:a="http://schemas.openxmlformats.org/drawingml/2006/main">
              <a:ext uri="{FF2B5EF4-FFF2-40B4-BE49-F238E27FC236}">
                <a16:creationId xmlns:a16="http://schemas.microsoft.com/office/drawing/2014/main" id="{1F07593E-0DF7-46F1-930B-2C121365B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1" y="175564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202F"/>
          </a:solidFill>
          <a:ln xmlns:a="http://schemas.openxmlformats.org/drawingml/2006/main">
            <a:solidFill>
              <a:srgbClr val="B58943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9FC51B37-D64D-45C7-AE70-5DDB73FE8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1" y="1810512"/>
            <a:ext cx="457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B58943"/>
                </a:solidFill>
                <a:latin typeface="PMingLiU"/>
                <a:ea typeface="PMingLiU"/>
                <a:cs typeface="PMingLiU"/>
              </a:rPr>
              <a:t>1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3E56C547-213E-46ED-B808-0ED1788CA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299" y="1682496"/>
            <a:ext cx="25146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900" b="1">
                <a:solidFill>
                  <a:srgbClr val="3B2B1B"/>
                </a:solidFill>
                <a:latin typeface="PMingLiU"/>
                <a:ea typeface="PMingLiU"/>
                <a:cs typeface="PMingLiU"/>
              </a:rPr>
              <a:t>A｜可操作產品</a:t>
            </a:r>
            <a:endParaRPr sz="1900" b="1">
              <a:solidFill>
                <a:srgbClr val="3B2B1B"/>
              </a:solidFill>
              <a:latin typeface="PMingLiU"/>
              <a:ea typeface="PMingLiU"/>
              <a:cs typeface="PMingLiU"/>
            </a:endParaR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0DE928CD-8CE8-49F9-9955-2ACF498C5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222918"/>
            <a:ext cx="4956048" cy="701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>
            <a:defPPr>
              <a:defRPr sz="1350"/>
            </a:defPPr>
          </a:lstStyle>
          <a:p xmlns:a="http://schemas.openxmlformats.org/drawingml/2006/main">
            <a:pPr>
              <a:buNone/>
              <a:defRPr sz="1600">
                <a:solidFill>
                  <a:srgbClr val="3B2B1B"/>
                </a:solidFill>
                <a:latin typeface="Noto Serif CJK TC"/>
                <a:ea typeface="Noto Serif CJK TC"/>
                <a:cs typeface="Noto Serif CJK TC"/>
              </a:defRPr>
            </a:pPr>
            <a:r>
              <a:rPr sz="1350" b="1">
                <a:solidFill>
                  <a:srgbClr val="4A3526"/>
                </a:solidFill>
                <a:latin typeface="PMingLiU"/>
                <a:ea typeface="PMingLiU"/>
                <a:cs typeface="PMingLiU"/>
              </a:rPr>
              <a:t>• 正式網站與 8 步競賽展示</a:t>
            </a:r>
            <a:endParaRPr sz="2000" b="1">
              <a:solidFill>
                <a:srgbClr val="4A3526"/>
              </a:solidFill>
              <a:latin typeface="PMingLiU"/>
              <a:ea typeface="PMingLiU"/>
              <a:cs typeface="PMingLiU"/>
            </a:endParaRPr>
          </a:p>
          <a:p xmlns:a="http://schemas.openxmlformats.org/drawingml/2006/main">
            <a:pPr>
              <a:buNone/>
              <a:defRPr sz="1600">
                <a:solidFill>
                  <a:srgbClr val="3B2B1B"/>
                </a:solidFill>
                <a:latin typeface="Noto Serif CJK TC"/>
                <a:ea typeface="Noto Serif CJK TC"/>
                <a:cs typeface="Noto Serif CJK TC"/>
              </a:defRPr>
            </a:pPr>
            <a:r>
              <a:rPr sz="1350" b="1">
                <a:solidFill>
                  <a:srgbClr val="4A3526"/>
                </a:solidFill>
                <a:latin typeface="PMingLiU"/>
                <a:ea typeface="PMingLiU"/>
                <a:cs typeface="PMingLiU"/>
              </a:rPr>
              <a:t>• 390px 手機可完成核心流程</a:t>
            </a:r>
            <a:endParaRPr sz="2000" b="1">
              <a:solidFill>
                <a:srgbClr val="4A3526"/>
              </a:solidFill>
              <a:latin typeface="PMingLiU"/>
              <a:ea typeface="PMingLiU"/>
              <a:cs typeface="PMingLiU"/>
            </a:endParaRP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0F650173-C031-48C9-B42F-8A6617591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600200"/>
            <a:ext cx="5440680" cy="17830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9E9"/>
          </a:solidFill>
          <a:ln xmlns:a="http://schemas.openxmlformats.org/drawingml/2006/main" w="13970">
            <a:solidFill>
              <a:srgbClr val="91662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Oval 17">
            <a:extLst xmlns:a="http://schemas.openxmlformats.org/drawingml/2006/main">
              <a:ext uri="{FF2B5EF4-FFF2-40B4-BE49-F238E27FC236}">
                <a16:creationId xmlns:a16="http://schemas.microsoft.com/office/drawing/2014/main" id="{3C2C92ED-7780-4C2C-B570-3E9B282A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631" y="175564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202F"/>
          </a:solidFill>
          <a:ln xmlns:a="http://schemas.openxmlformats.org/drawingml/2006/main">
            <a:solidFill>
              <a:srgbClr val="B58943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F95B5507-FCE5-498A-BD61-3CE9DBB46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631" y="1810512"/>
            <a:ext cx="457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B58943"/>
                </a:solidFill>
                <a:latin typeface="PMingLiU"/>
                <a:ea typeface="PMingLiU"/>
                <a:cs typeface="PMingLiU"/>
              </a:rPr>
              <a:t>2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CF9B9B94-0259-41A5-A503-FA819A58E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8272" y="1728216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900" b="1">
                <a:solidFill>
                  <a:srgbClr val="3B2B1B"/>
                </a:solidFill>
                <a:latin typeface="PMingLiU"/>
                <a:ea typeface="PMingLiU"/>
                <a:cs typeface="PMingLiU"/>
              </a:rPr>
              <a:t>B｜系統驗證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2E7BA7A1-1746-46D2-A0CA-45528102A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1072" y="2240280"/>
            <a:ext cx="5029200" cy="701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>
            <a:defPPr>
              <a:defRPr sz="1350"/>
            </a:defPPr>
          </a:lstStyle>
          <a:p xmlns:a="http://schemas.openxmlformats.org/drawingml/2006/main">
            <a:pPr>
              <a:buNone/>
              <a:defRPr sz="1600">
                <a:solidFill>
                  <a:srgbClr val="3B2B1B"/>
                </a:solidFill>
                <a:latin typeface="Noto Serif CJK TC"/>
                <a:ea typeface="Noto Serif CJK TC"/>
                <a:cs typeface="Noto Serif CJK TC"/>
              </a:defRPr>
            </a:pPr>
            <a:r>
              <a:rPr sz="1350" b="1">
                <a:solidFill>
                  <a:srgbClr val="4A3526"/>
                </a:solidFill>
                <a:latin typeface="PMingLiU"/>
                <a:ea typeface="PMingLiU"/>
                <a:cs typeface="PMingLiU"/>
              </a:rPr>
              <a:t>• 53／53 自動測試通過</a:t>
            </a:r>
          </a:p>
          <a:p xmlns:a="http://schemas.openxmlformats.org/drawingml/2006/main">
            <a:pPr>
              <a:buNone/>
              <a:defRPr sz="1600">
                <a:solidFill>
                  <a:srgbClr val="3B2B1B"/>
                </a:solidFill>
                <a:latin typeface="Noto Serif CJK TC"/>
                <a:ea typeface="Noto Serif CJK TC"/>
                <a:cs typeface="Noto Serif CJK TC"/>
              </a:defRPr>
            </a:pPr>
            <a:r>
              <a:rPr sz="1350" b="1">
                <a:solidFill>
                  <a:srgbClr val="4A3526"/>
                </a:solidFill>
                <a:latin typeface="PMingLiU"/>
                <a:ea typeface="PMingLiU"/>
                <a:cs typeface="PMingLiU"/>
              </a:rPr>
              <a:t>• 16 個 Production 路由建置成功</a:t>
            </a:r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4DB90B04-06DF-40EB-94E4-2A8BE1B1E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657600"/>
            <a:ext cx="5212080" cy="17830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9E9"/>
          </a:solidFill>
          <a:ln xmlns:a="http://schemas.openxmlformats.org/drawingml/2006/main" w="13970">
            <a:solidFill>
              <a:srgbClr val="91662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" name="Oval 22">
            <a:extLst xmlns:a="http://schemas.openxmlformats.org/drawingml/2006/main">
              <a:ext uri="{FF2B5EF4-FFF2-40B4-BE49-F238E27FC236}">
                <a16:creationId xmlns:a16="http://schemas.microsoft.com/office/drawing/2014/main" id="{B6746582-4C3B-42A5-8EC5-1F67E3A72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1" y="381304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202F"/>
          </a:solidFill>
          <a:ln xmlns:a="http://schemas.openxmlformats.org/drawingml/2006/main">
            <a:solidFill>
              <a:srgbClr val="B58943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DBFAC268-2E6D-421A-859C-CB469686F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1" y="3867912"/>
            <a:ext cx="457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B58943"/>
                </a:solidFill>
                <a:latin typeface="PMingLiU"/>
                <a:ea typeface="PMingLiU"/>
                <a:cs typeface="PMingLiU"/>
              </a:rPr>
              <a:t>3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F595675C-D440-4EB2-A583-B0464E2D3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3785615"/>
            <a:ext cx="434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900" b="1">
                <a:solidFill>
                  <a:srgbClr val="3B2B1B"/>
                </a:solidFill>
                <a:latin typeface="PMingLiU"/>
                <a:ea typeface="PMingLiU"/>
                <a:cs typeface="PMingLiU"/>
              </a:rPr>
              <a:t>C｜規則與安全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40BEBDE9-B680-4D47-9780-DB482D3FB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4297680"/>
            <a:ext cx="4800600" cy="701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>
            <a:defPPr>
              <a:defRPr sz="1350"/>
            </a:defPPr>
          </a:lstStyle>
          <a:p xmlns:a="http://schemas.openxmlformats.org/drawingml/2006/main">
            <a:pPr>
              <a:buNone/>
              <a:defRPr sz="1600">
                <a:solidFill>
                  <a:srgbClr val="3B2B1B"/>
                </a:solidFill>
                <a:latin typeface="Noto Serif CJK TC"/>
                <a:ea typeface="Noto Serif CJK TC"/>
                <a:cs typeface="Noto Serif CJK TC"/>
              </a:defRPr>
            </a:pPr>
            <a:r>
              <a:rPr sz="1350" b="1">
                <a:solidFill>
                  <a:srgbClr val="4A3526"/>
                </a:solidFill>
                <a:latin typeface="PMingLiU"/>
                <a:ea typeface="PMingLiU"/>
                <a:cs typeface="PMingLiU"/>
              </a:rPr>
              <a:t>• 40／40 合成規則案例通過</a:t>
            </a:r>
          </a:p>
          <a:p xmlns:a="http://schemas.openxmlformats.org/drawingml/2006/main">
            <a:pPr>
              <a:buNone/>
              <a:defRPr sz="1600">
                <a:solidFill>
                  <a:srgbClr val="3B2B1B"/>
                </a:solidFill>
                <a:latin typeface="Noto Serif CJK TC"/>
                <a:ea typeface="Noto Serif CJK TC"/>
                <a:cs typeface="Noto Serif CJK TC"/>
              </a:defRPr>
            </a:pPr>
            <a:r>
              <a:rPr sz="1350" b="1">
                <a:solidFill>
                  <a:srgbClr val="4A3526"/>
                </a:solidFill>
                <a:latin typeface="PMingLiU"/>
                <a:ea typeface="PMingLiU"/>
                <a:cs typeface="PMingLiU"/>
              </a:rPr>
              <a:t>• 這不是即時模型準確率</a:t>
            </a:r>
          </a:p>
        </p:txBody>
      </p:sp>
      <p:sp>
        <p:nvSpPr>
          <p:cNvPr id="27" name="Rounded Rectangle 26">
            <a:extLst xmlns:a="http://schemas.openxmlformats.org/drawingml/2006/main">
              <a:ext uri="{FF2B5EF4-FFF2-40B4-BE49-F238E27FC236}">
                <a16:creationId xmlns:a16="http://schemas.microsoft.com/office/drawing/2014/main" id="{6C3B8CC8-4EB9-4F04-A5A7-A139A65E6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657600"/>
            <a:ext cx="5440680" cy="17830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9E9"/>
          </a:solidFill>
          <a:ln xmlns:a="http://schemas.openxmlformats.org/drawingml/2006/main" w="13970">
            <a:solidFill>
              <a:srgbClr val="91662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8" name="Oval 27">
            <a:extLst xmlns:a="http://schemas.openxmlformats.org/drawingml/2006/main">
              <a:ext uri="{FF2B5EF4-FFF2-40B4-BE49-F238E27FC236}">
                <a16:creationId xmlns:a16="http://schemas.microsoft.com/office/drawing/2014/main" id="{FE4491EC-9B03-4BAF-AAF2-DB1C65F50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631" y="381304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202F"/>
          </a:solidFill>
          <a:ln xmlns:a="http://schemas.openxmlformats.org/drawingml/2006/main">
            <a:solidFill>
              <a:srgbClr val="B58943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1DEDF707-FBBC-41FC-B154-8BE94039F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631" y="3867912"/>
            <a:ext cx="457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B58943"/>
                </a:solidFill>
                <a:latin typeface="PMingLiU"/>
                <a:ea typeface="PMingLiU"/>
                <a:cs typeface="PMingLiU"/>
              </a:rPr>
              <a:t>4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57A4F228-63D1-4199-8C27-157507DFF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8272" y="3785615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900" b="1">
                <a:solidFill>
                  <a:srgbClr val="3B2B1B"/>
                </a:solidFill>
                <a:latin typeface="PMingLiU"/>
                <a:ea typeface="PMingLiU"/>
                <a:cs typeface="PMingLiU"/>
              </a:rPr>
              <a:t>D｜真人學習成效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953FFC90-D0D2-4007-89D0-C5C69ACE9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1072" y="4297680"/>
            <a:ext cx="5029200" cy="701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>
            <a:defPPr>
              <a:defRPr sz="1350"/>
            </a:defPPr>
          </a:lstStyle>
          <a:p xmlns:a="http://schemas.openxmlformats.org/drawingml/2006/main">
            <a:pPr>
              <a:buNone/>
              <a:defRPr sz="1600">
                <a:solidFill>
                  <a:srgbClr val="3B2B1B"/>
                </a:solidFill>
                <a:latin typeface="Noto Serif CJK TC"/>
                <a:ea typeface="Noto Serif CJK TC"/>
                <a:cs typeface="Noto Serif CJK TC"/>
              </a:defRPr>
            </a:pPr>
            <a:r>
              <a:rPr sz="1350" b="1">
                <a:solidFill>
                  <a:srgbClr val="4A3526"/>
                </a:solidFill>
                <a:latin typeface="PMingLiU"/>
                <a:ea typeface="PMingLiU"/>
                <a:cs typeface="PMingLiU"/>
              </a:rPr>
              <a:t>• 前後測：待匿名小型試用</a:t>
            </a:r>
          </a:p>
          <a:p xmlns:a="http://schemas.openxmlformats.org/drawingml/2006/main">
            <a:pPr>
              <a:buNone/>
              <a:defRPr sz="1600">
                <a:solidFill>
                  <a:srgbClr val="3B2B1B"/>
                </a:solidFill>
                <a:latin typeface="Noto Serif CJK TC"/>
                <a:ea typeface="Noto Serif CJK TC"/>
                <a:cs typeface="Noto Serif CJK TC"/>
              </a:defRPr>
            </a:pPr>
            <a:r>
              <a:rPr sz="1350" b="1">
                <a:solidFill>
                  <a:srgbClr val="4A3526"/>
                </a:solidFill>
                <a:latin typeface="PMingLiU"/>
                <a:ea typeface="PMingLiU"/>
                <a:cs typeface="PMingLiU"/>
              </a:rPr>
              <a:t>• 不捏造進步率或滿意度</a:t>
            </a:r>
          </a:p>
        </p:txBody>
      </p:sp>
      <p:sp>
        <p:nvSpPr>
          <p:cNvPr id="32" name="Rounded Rectangle 31">
            <a:extLst xmlns:a="http://schemas.openxmlformats.org/drawingml/2006/main">
              <a:ext uri="{FF2B5EF4-FFF2-40B4-BE49-F238E27FC236}">
                <a16:creationId xmlns:a16="http://schemas.microsoft.com/office/drawing/2014/main" id="{094E8468-6EE0-4BF1-A2A1-1C56004B9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989320"/>
            <a:ext cx="11018520" cy="475488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91662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01BF4C77-DAC8-4ADB-8A58-A3580B312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6089904"/>
            <a:ext cx="10469880" cy="350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>
            <a:defPPr>
              <a:defRPr sz="1350"/>
            </a:defPPr>
          </a:lstStyle>
          <a:p xmlns:a="http://schemas.openxmlformats.org/drawingml/2006/main">
            <a:pPr algn="ctr">
              <a:buNone/>
            </a:pPr>
            <a:r>
              <a:rPr sz="1350" b="1">
                <a:solidFill>
                  <a:srgbClr val="3B2B1B"/>
                </a:solidFill>
                <a:latin typeface="PMingLiU"/>
                <a:ea typeface="PMingLiU"/>
                <a:cs typeface="PMingLiU"/>
              </a:rPr>
              <a:t>下一個證據缺口：10 月 12 日前完成匿名小型試用，記錄樣本數、日期、情境與限制。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F04CB30D-7205-4AE5-A74F-E95AE6BA3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336792"/>
            <a:ext cx="502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4A3526"/>
                </a:solidFill>
                <a:latin typeface="PMingLiU"/>
                <a:ea typeface="PMingLiU"/>
                <a:cs typeface="PMingLiU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022470095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35F020D-BD52-4952-9893-E182190E7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99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2F"/>
          </a:solidFill>
          <a:ln xmlns:a="http://schemas.openxmlformats.org/drawingml/2006/main">
            <a:solidFill>
              <a:srgbClr val="08202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8D0BEB2-43D9-44A5-AE8F-732957147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" y="146304"/>
            <a:ext cx="11899391" cy="65653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B58943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7633036-4525-472C-9747-78163C7BA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" y="219456"/>
            <a:ext cx="11753087" cy="6419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B58943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8188E20-07CE-4990-A9C8-F7F83A7CF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" y="256032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0">
                <a:solidFill>
                  <a:srgbClr val="B58943"/>
                </a:solidFill>
                <a:latin typeface="PMingLiU"/>
                <a:ea typeface="PMingLiU"/>
                <a:cs typeface="PMingLiU"/>
              </a:rPr>
              <a:t>✦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20E3B2BF-D660-47AE-8B06-EAB0B5A99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7744" y="256032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0">
                <a:solidFill>
                  <a:srgbClr val="B58943"/>
                </a:solidFill>
                <a:latin typeface="PMingLiU"/>
                <a:ea typeface="PMingLiU"/>
                <a:cs typeface="PMingLiU"/>
              </a:rPr>
              <a:t>❧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9C7CC489-96F0-4F1B-BC67-2BF3493CE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" y="6428232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0">
                <a:solidFill>
                  <a:srgbClr val="B58943"/>
                </a:solidFill>
                <a:latin typeface="PMingLiU"/>
                <a:ea typeface="PMingLiU"/>
                <a:cs typeface="PMingLiU"/>
              </a:rPr>
              <a:t>✦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54E8F882-A6F0-4DB1-AC7C-5E11EB500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7744" y="6428232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0">
                <a:solidFill>
                  <a:srgbClr val="B58943"/>
                </a:solidFill>
                <a:latin typeface="PMingLiU"/>
                <a:ea typeface="PMingLiU"/>
                <a:cs typeface="PMingLiU"/>
              </a:rPr>
              <a:t>❧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0F2E3524-CA73-4E95-896A-C9ADAE8C0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1148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>
            <a:defPPr>
              <a:defRPr sz="2400"/>
            </a:defPPr>
          </a:lstStyle>
          <a:p xmlns:a="http://schemas.openxmlformats.org/drawingml/2006/main">
            <a:r>
              <a:rPr sz="2400" b="1">
                <a:solidFill>
                  <a:srgbClr val="F7EDD8"/>
                </a:solidFill>
                <a:latin typeface="PMingLiU"/>
                <a:ea typeface="PMingLiU"/>
                <a:cs typeface="PMingLiU"/>
              </a:rPr>
              <a:t>10 月 12 日前的送件計畫與後續發展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5C81E3A4-8458-4800-96ED-063D374F0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060704"/>
            <a:ext cx="10789920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>
            <a:defPPr>
              <a:defRPr sz="1350"/>
            </a:defPPr>
          </a:lstStyle>
          <a:p xmlns:a="http://schemas.openxmlformats.org/drawingml/2006/main">
            <a:r>
              <a:rPr sz="1350" b="1">
                <a:solidFill>
                  <a:srgbClr val="B58943"/>
                </a:solidFill>
                <a:latin typeface="PMingLiU"/>
                <a:ea typeface="PMingLiU"/>
                <a:cs typeface="PMingLiU"/>
              </a:rPr>
              <a:t>先補真實試用，再更新簡報、表單與展示素材</a:t>
            </a:r>
          </a:p>
        </p:txBody>
      </p:sp>
      <p:pic>
        <p:nvPicPr>
          <p:cNvPr id="11" name="Picture 10">
            <a:extLst xmlns:a="http://schemas.openxmlformats.org/drawingml/2006/main">
              <a:ext uri="{FF2B5EF4-FFF2-40B4-BE49-F238E27FC236}">
                <a16:creationId xmlns:a16="http://schemas.microsoft.com/office/drawing/2014/main" id="{B98C792D-E67F-4A04-ACEA-A044448D31F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1c4177fa804b9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1627632"/>
            <a:ext cx="5577840" cy="4069080"/>
          </a:xfrm>
          <a:prstGeom xmlns:a="http://schemas.openxmlformats.org/drawingml/2006/main" prst="rect">
            <a:avLst/>
          </a:prstGeom>
          <a:ln xmlns:a="http://schemas.openxmlformats.org/drawingml/2006/main" w="15240">
            <a:solidFill>
              <a:srgbClr val="B58943"/>
            </a:solidFill>
          </a:ln>
        </p:spPr>
      </p:pic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61AB8B43-49C1-499F-A3B2-62575FE1C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609344"/>
            <a:ext cx="516636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AF4E2"/>
          </a:solidFill>
          <a:ln xmlns:a="http://schemas.openxmlformats.org/drawingml/2006/main" w="13970">
            <a:solidFill>
              <a:srgbClr val="B58943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Oval 12">
            <a:extLst xmlns:a="http://schemas.openxmlformats.org/drawingml/2006/main">
              <a:ext uri="{FF2B5EF4-FFF2-40B4-BE49-F238E27FC236}">
                <a16:creationId xmlns:a16="http://schemas.microsoft.com/office/drawing/2014/main" id="{E084B7A0-D94B-4A41-97B0-2C9C23A83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392" y="1764792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93B"/>
          </a:solidFill>
          <a:ln xmlns:a="http://schemas.openxmlformats.org/drawingml/2006/main">
            <a:solidFill>
              <a:srgbClr val="B58943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765A8553-0E6A-41B2-9524-0A77D74F7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392" y="1819656"/>
            <a:ext cx="457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B58943"/>
                </a:solidFill>
                <a:latin typeface="PMingLiU"/>
                <a:ea typeface="PMingLiU"/>
                <a:cs typeface="PMingLiU"/>
              </a:rPr>
              <a:t>1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AF072DFA-AC8D-4BAE-8E47-ECEF3BDEC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1737360"/>
            <a:ext cx="429768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900" b="1">
                <a:solidFill>
                  <a:srgbClr val="3B2B1B"/>
                </a:solidFill>
                <a:latin typeface="PMingLiU"/>
                <a:ea typeface="PMingLiU"/>
                <a:cs typeface="PMingLiU"/>
              </a:rPr>
              <a:t>1｜10／6–10／8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A464653D-571C-45EE-81E8-79249D092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2" y="2191549"/>
            <a:ext cx="4754880" cy="579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>
            <a:defPPr>
              <a:defRPr sz="1275"/>
            </a:defPPr>
          </a:lstStyle>
          <a:p xmlns:a="http://schemas.openxmlformats.org/drawingml/2006/main">
            <a:pPr>
              <a:buNone/>
              <a:defRPr sz="1600">
                <a:solidFill>
                  <a:srgbClr val="3B2B1B"/>
                </a:solidFill>
                <a:latin typeface="Noto Serif CJK TC"/>
                <a:ea typeface="Noto Serif CJK TC"/>
                <a:cs typeface="Noto Serif CJK TC"/>
              </a:defRPr>
            </a:pPr>
            <a:r>
              <a:rPr sz="1275">
                <a:latin typeface="PMingLiU"/>
                <a:ea typeface="PMingLiU"/>
                <a:cs typeface="PMingLiU"/>
              </a:rPr>
              <a:t>• 建議完成 8–12 名匿名小型試用</a:t>
            </a:r>
            <a:endParaRPr>
              <a:latin typeface="PMingLiU"/>
              <a:ea typeface="PMingLiU"/>
              <a:cs typeface="PMingLiU"/>
            </a:endParaRPr>
          </a:p>
          <a:p xmlns:a="http://schemas.openxmlformats.org/drawingml/2006/main">
            <a:pPr>
              <a:buNone/>
              <a:defRPr sz="1600">
                <a:solidFill>
                  <a:srgbClr val="3B2B1B"/>
                </a:solidFill>
                <a:latin typeface="Noto Serif CJK TC"/>
                <a:ea typeface="Noto Serif CJK TC"/>
                <a:cs typeface="Noto Serif CJK TC"/>
              </a:defRPr>
            </a:pPr>
            <a:r>
              <a:rPr sz="1275">
                <a:latin typeface="PMingLiU"/>
                <a:ea typeface="PMingLiU"/>
                <a:cs typeface="PMingLiU"/>
              </a:rPr>
              <a:t>• 記錄情境、完成時間與前後測</a:t>
            </a:r>
            <a:endParaRPr>
              <a:latin typeface="PMingLiU"/>
              <a:ea typeface="PMingLiU"/>
              <a:cs typeface="PMingLiU"/>
            </a:endParaRP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31355685-CB12-4256-82A6-362866C30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80944"/>
            <a:ext cx="516636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AF4E2"/>
          </a:solidFill>
          <a:ln xmlns:a="http://schemas.openxmlformats.org/drawingml/2006/main" w="13970">
            <a:solidFill>
              <a:srgbClr val="B58943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Oval 17">
            <a:extLst xmlns:a="http://schemas.openxmlformats.org/drawingml/2006/main">
              <a:ext uri="{FF2B5EF4-FFF2-40B4-BE49-F238E27FC236}">
                <a16:creationId xmlns:a16="http://schemas.microsoft.com/office/drawing/2014/main" id="{039C004B-7E71-4D34-B65F-0AE932FBA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392" y="3136391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93B"/>
          </a:solidFill>
          <a:ln xmlns:a="http://schemas.openxmlformats.org/drawingml/2006/main">
            <a:solidFill>
              <a:srgbClr val="B58943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A6E937B4-43DE-40C5-8DB2-46766CF17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392" y="3191256"/>
            <a:ext cx="457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B58943"/>
                </a:solidFill>
                <a:latin typeface="PMingLiU"/>
                <a:ea typeface="PMingLiU"/>
                <a:cs typeface="PMingLiU"/>
              </a:rPr>
              <a:t>2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D2E259C2-118B-4161-AF71-F98A3A064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3108960"/>
            <a:ext cx="429768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900" b="1">
                <a:solidFill>
                  <a:srgbClr val="3B2B1B"/>
                </a:solidFill>
                <a:latin typeface="PMingLiU"/>
                <a:ea typeface="PMingLiU"/>
                <a:cs typeface="PMingLiU"/>
              </a:rPr>
              <a:t>2｜10／9–10／10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FA6400C7-CDC3-4675-89B0-43D24FB22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2" y="3563149"/>
            <a:ext cx="4754880" cy="579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>
            <a:defPPr>
              <a:defRPr sz="1275"/>
            </a:defPPr>
          </a:lstStyle>
          <a:p xmlns:a="http://schemas.openxmlformats.org/drawingml/2006/main">
            <a:pPr>
              <a:buNone/>
              <a:defRPr sz="1600">
                <a:solidFill>
                  <a:srgbClr val="3B2B1B"/>
                </a:solidFill>
                <a:latin typeface="Noto Serif CJK TC"/>
                <a:ea typeface="Noto Serif CJK TC"/>
                <a:cs typeface="Noto Serif CJK TC"/>
              </a:defRPr>
            </a:pPr>
            <a:r>
              <a:rPr sz="1275">
                <a:latin typeface="PMingLiU"/>
                <a:ea typeface="PMingLiU"/>
                <a:cs typeface="PMingLiU"/>
              </a:rPr>
              <a:t>• 彙整真實前後測與常錯概念</a:t>
            </a:r>
            <a:endParaRPr>
              <a:latin typeface="PMingLiU"/>
              <a:ea typeface="PMingLiU"/>
              <a:cs typeface="PMingLiU"/>
            </a:endParaRPr>
          </a:p>
          <a:p xmlns:a="http://schemas.openxmlformats.org/drawingml/2006/main">
            <a:pPr>
              <a:buNone/>
              <a:defRPr sz="1600">
                <a:solidFill>
                  <a:srgbClr val="3B2B1B"/>
                </a:solidFill>
                <a:latin typeface="Noto Serif CJK TC"/>
                <a:ea typeface="Noto Serif CJK TC"/>
                <a:cs typeface="Noto Serif CJK TC"/>
              </a:defRPr>
            </a:pPr>
            <a:r>
              <a:rPr sz="1275">
                <a:latin typeface="PMingLiU"/>
                <a:ea typeface="PMingLiU"/>
                <a:cs typeface="PMingLiU"/>
              </a:rPr>
              <a:t>• 只呈現實際樣本與研究限制</a:t>
            </a:r>
            <a:endParaRPr>
              <a:latin typeface="PMingLiU"/>
              <a:ea typeface="PMingLiU"/>
              <a:cs typeface="PMingLiU"/>
            </a:endParaRPr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0A7CE347-E3E8-4858-A64C-93799ABE8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352544"/>
            <a:ext cx="516636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AF4E2"/>
          </a:solidFill>
          <a:ln xmlns:a="http://schemas.openxmlformats.org/drawingml/2006/main" w="13970">
            <a:solidFill>
              <a:srgbClr val="B58943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" name="Oval 22">
            <a:extLst xmlns:a="http://schemas.openxmlformats.org/drawingml/2006/main">
              <a:ext uri="{FF2B5EF4-FFF2-40B4-BE49-F238E27FC236}">
                <a16:creationId xmlns:a16="http://schemas.microsoft.com/office/drawing/2014/main" id="{6C040D50-B304-4D56-B276-085573BE7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392" y="4507992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93B"/>
          </a:solidFill>
          <a:ln xmlns:a="http://schemas.openxmlformats.org/drawingml/2006/main">
            <a:solidFill>
              <a:srgbClr val="B58943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416C04DD-1349-4C14-816F-C6BD74C14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392" y="4562856"/>
            <a:ext cx="457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B58943"/>
                </a:solidFill>
                <a:latin typeface="PMingLiU"/>
                <a:ea typeface="PMingLiU"/>
                <a:cs typeface="PMingLiU"/>
              </a:rPr>
              <a:t>3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E7DA803D-DD2F-42AE-8E86-F04567C97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4480559"/>
            <a:ext cx="429768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900" b="1">
                <a:solidFill>
                  <a:srgbClr val="3B2B1B"/>
                </a:solidFill>
                <a:latin typeface="PMingLiU"/>
                <a:ea typeface="PMingLiU"/>
                <a:cs typeface="PMingLiU"/>
              </a:rPr>
              <a:t>3｜10／11–10／12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A5DE365A-57CA-4115-B1D6-6C42EEA47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2" y="4934749"/>
            <a:ext cx="4754880" cy="579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>
            <a:defPPr>
              <a:defRPr sz="1275"/>
            </a:defPPr>
          </a:lstStyle>
          <a:p xmlns:a="http://schemas.openxmlformats.org/drawingml/2006/main">
            <a:pPr>
              <a:buNone/>
              <a:defRPr sz="1600">
                <a:solidFill>
                  <a:srgbClr val="3B2B1B"/>
                </a:solidFill>
                <a:latin typeface="Noto Serif CJK TC"/>
                <a:ea typeface="Noto Serif CJK TC"/>
                <a:cs typeface="Noto Serif CJK TC"/>
              </a:defRPr>
            </a:pPr>
            <a:r>
              <a:rPr sz="1275">
                <a:latin typeface="PMingLiU"/>
                <a:ea typeface="PMingLiU"/>
                <a:cs typeface="PMingLiU"/>
              </a:rPr>
              <a:t>• 更新簡報、原報名表與檢視權限</a:t>
            </a:r>
            <a:endParaRPr>
              <a:latin typeface="PMingLiU"/>
              <a:ea typeface="PMingLiU"/>
              <a:cs typeface="PMingLiU"/>
            </a:endParaRPr>
          </a:p>
          <a:p xmlns:a="http://schemas.openxmlformats.org/drawingml/2006/main">
            <a:pPr>
              <a:buNone/>
              <a:defRPr sz="1600">
                <a:solidFill>
                  <a:srgbClr val="3B2B1B"/>
                </a:solidFill>
                <a:latin typeface="Noto Serif CJK TC"/>
                <a:ea typeface="Noto Serif CJK TC"/>
                <a:cs typeface="Noto Serif CJK TC"/>
              </a:defRPr>
            </a:pPr>
            <a:r>
              <a:rPr sz="1275">
                <a:latin typeface="PMingLiU"/>
                <a:ea typeface="PMingLiU"/>
                <a:cs typeface="PMingLiU"/>
              </a:rPr>
              <a:t>• 完成現場 Demo 與離線備援彩排</a:t>
            </a:r>
            <a:endParaRPr>
              <a:latin typeface="PMingLiU"/>
              <a:ea typeface="PMingLiU"/>
              <a:cs typeface="PMingLiU"/>
            </a:endParaRPr>
          </a:p>
        </p:txBody>
      </p:sp>
      <p:sp>
        <p:nvSpPr>
          <p:cNvPr id="27" name="Rounded Rectangle 26">
            <a:extLst xmlns:a="http://schemas.openxmlformats.org/drawingml/2006/main">
              <a:ext uri="{FF2B5EF4-FFF2-40B4-BE49-F238E27FC236}">
                <a16:creationId xmlns:a16="http://schemas.microsoft.com/office/drawing/2014/main" id="{96CE5B28-81D3-4037-A285-3E0E24FF6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989320"/>
            <a:ext cx="11018520" cy="475488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B58943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D427D25A-5875-4AD0-BAEB-DC2131F37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6089904"/>
            <a:ext cx="10469880" cy="350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>
            <a:defPPr>
              <a:defRPr sz="1425"/>
            </a:defPPr>
          </a:lstStyle>
          <a:p xmlns:a="http://schemas.openxmlformats.org/drawingml/2006/main">
            <a:pPr algn="ctr">
              <a:buNone/>
            </a:pPr>
            <a:r>
              <a:rPr sz="1425" b="1">
                <a:solidFill>
                  <a:srgbClr val="B58943"/>
                </a:solidFill>
                <a:latin typeface="PMingLiU"/>
                <a:ea typeface="PMingLiU"/>
                <a:cs typeface="PMingLiU"/>
              </a:rPr>
              <a:t>後續：OCR、語音、多語與正式教學研究；核心持續培養查證能力。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E8F3F767-C4EC-4189-B651-AEE146C0F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336792"/>
            <a:ext cx="502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0">
                <a:solidFill>
                  <a:srgbClr val="4A3526"/>
                </a:solidFill>
                <a:latin typeface="PMingLiU"/>
                <a:ea typeface="PMingLiU"/>
                <a:cs typeface="PMingLiU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12723417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Picture 1">
            <a:extLst xmlns:a="http://schemas.openxmlformats.org/drawingml/2006/main">
              <a:ext uri="{FF2B5EF4-FFF2-40B4-BE49-F238E27FC236}">
                <a16:creationId xmlns:a16="http://schemas.microsoft.com/office/drawing/2014/main" id="{F1C9514A-DE82-4760-99BA-5136A23972D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a6de980cb04fd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references-background">
            <a:extLst xmlns:a="http://schemas.openxmlformats.org/drawingml/2006/main">
              <a:ext uri="{FF2B5EF4-FFF2-40B4-BE49-F238E27FC236}">
                <a16:creationId xmlns:a16="http://schemas.microsoft.com/office/drawing/2014/main" id="{97B418FE-A5F9-43AF-BE50-13DDA5691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EDC"/>
          </a:solidFill>
          <a:ln xmlns:a="http://schemas.openxmlformats.org/drawingml/2006/main" w="0">
            <a:solidFill>
              <a:srgbClr val="F6EEDC"/>
            </a:solidFill>
            <a:prstDash val="solid"/>
          </a:ln>
        </p:spPr>
      </p:sp>
      <p:sp>
        <p:nvSpPr>
          <p:cNvPr id="4" name="references-border">
            <a:extLst xmlns:a="http://schemas.openxmlformats.org/drawingml/2006/main">
              <a:ext uri="{FF2B5EF4-FFF2-40B4-BE49-F238E27FC236}">
                <a16:creationId xmlns:a16="http://schemas.microsoft.com/office/drawing/2014/main" id="{D196B5A1-4951-465C-8010-B45EC570B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90500"/>
            <a:ext cx="11734800" cy="647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C6B2F"/>
            </a:solidFill>
            <a:prstDash val="solid"/>
          </a:ln>
        </p:spPr>
      </p:sp>
      <p:sp>
        <p:nvSpPr>
          <p:cNvPr id="5" name="references-title">
            <a:extLst xmlns:a="http://schemas.openxmlformats.org/drawingml/2006/main">
              <a:ext uri="{FF2B5EF4-FFF2-40B4-BE49-F238E27FC236}">
                <a16:creationId xmlns:a16="http://schemas.microsoft.com/office/drawing/2014/main" id="{94614929-D5AE-4CF9-8332-E4927B210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857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3B2A1F"/>
                </a:solidFill>
                <a:latin typeface="PMingLiU"/>
                <a:ea typeface="PMingLiU"/>
                <a:cs typeface="PMingLiU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3B2A1F"/>
                </a:solidFill>
                <a:latin typeface="PMingLiU"/>
                <a:ea typeface="PMingLiU"/>
                <a:cs typeface="PMingLiU"/>
              </a:defRPr>
            </a:pPr>
            <a:r>
              <a:rPr sz="3150" b="1">
                <a:solidFill>
                  <a:srgbClr val="3B2A1F"/>
                </a:solidFill>
                <a:latin typeface="PMingLiU"/>
                <a:ea typeface="PMingLiU"/>
                <a:cs typeface="PMingLiU"/>
              </a:rPr>
              <a:t>參考資料與可驗證連結</a:t>
            </a:r>
          </a:p>
        </p:txBody>
      </p:sp>
      <p:sp>
        <p:nvSpPr>
          <p:cNvPr id="6" name="references-subtitle">
            <a:extLst xmlns:a="http://schemas.openxmlformats.org/drawingml/2006/main">
              <a:ext uri="{FF2B5EF4-FFF2-40B4-BE49-F238E27FC236}">
                <a16:creationId xmlns:a16="http://schemas.microsoft.com/office/drawing/2014/main" id="{8C43D18A-8A88-4596-AF78-58940EA45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04900"/>
            <a:ext cx="762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7B552E"/>
                </a:solidFill>
                <a:latin typeface="PMingLiU"/>
                <a:ea typeface="PMingLiU"/>
                <a:cs typeface="PMingLiU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7B552E"/>
                </a:solidFill>
                <a:latin typeface="PMingLiU"/>
                <a:ea typeface="PMingLiU"/>
                <a:cs typeface="PMingLiU"/>
              </a:defRPr>
            </a:pPr>
            <a:r>
              <a:rPr sz="1650" b="0">
                <a:solidFill>
                  <a:srgbClr val="7B552E"/>
                </a:solidFill>
                <a:latin typeface="PMingLiU"/>
                <a:ea typeface="PMingLiU"/>
                <a:cs typeface="PMingLiU"/>
              </a:rPr>
              <a:t>官方來源、正式網站與測試紀錄</a:t>
            </a:r>
          </a:p>
        </p:txBody>
      </p:sp>
      <p:sp>
        <p:nvSpPr>
          <p:cNvPr id="7" name="reference-1">
            <a:extLst xmlns:a="http://schemas.openxmlformats.org/drawingml/2006/main">
              <a:ext uri="{FF2B5EF4-FFF2-40B4-BE49-F238E27FC236}">
                <a16:creationId xmlns:a16="http://schemas.microsoft.com/office/drawing/2014/main" id="{C579C630-CD60-4731-81EA-55BE821F8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5143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3B2A1F"/>
                </a:solidFill>
                <a:latin typeface="PMingLiU"/>
                <a:ea typeface="PMingLiU"/>
                <a:cs typeface="PMingLiU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3B2A1F"/>
                </a:solidFill>
                <a:latin typeface="PMingLiU"/>
                <a:ea typeface="PMingLiU"/>
                <a:cs typeface="PMingLiU"/>
              </a:defRPr>
            </a:pPr>
            <a:r>
              <a:rPr sz="1500" b="0">
                <a:solidFill>
                  <a:srgbClr val="3B2A1F"/>
                </a:solidFill>
                <a:latin typeface="PMingLiU"/>
                <a:ea typeface="PMingLiU"/>
                <a:cs typeface="PMingLiU"/>
              </a:rPr>
              <a:t>01｜TAIA 2026 AI 創意設計大賽</a:t>
            </a:r>
          </a:p>
          <a:p xmlns:a="http://schemas.openxmlformats.org/drawingml/2006/main">
            <a:pPr algn="l">
              <a:defRPr sz="1500" b="0">
                <a:solidFill>
                  <a:srgbClr val="3B2A1F"/>
                </a:solidFill>
                <a:latin typeface="PMingLiU"/>
                <a:ea typeface="PMingLiU"/>
                <a:cs typeface="PMingLiU"/>
              </a:defRPr>
            </a:pPr>
            <a:r>
              <a:rPr sz="1500" b="0">
                <a:solidFill>
                  <a:srgbClr val="3B2A1F"/>
                </a:solidFill>
                <a:latin typeface="PMingLiU"/>
                <a:ea typeface="PMingLiU"/>
                <a:cs typeface="PMingLiU"/>
              </a:rPr>
              <a:t>https://www.aiatw.org/aida2026-info/</a:t>
            </a:r>
          </a:p>
        </p:txBody>
      </p:sp>
      <p:sp>
        <p:nvSpPr>
          <p:cNvPr id="8" name="reference-2">
            <a:extLst xmlns:a="http://schemas.openxmlformats.org/drawingml/2006/main">
              <a:ext uri="{FF2B5EF4-FFF2-40B4-BE49-F238E27FC236}">
                <a16:creationId xmlns:a16="http://schemas.microsoft.com/office/drawing/2014/main" id="{AB67DC2F-312D-4844-8202-E1161EC1E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809750"/>
            <a:ext cx="5143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3B2A1F"/>
                </a:solidFill>
                <a:latin typeface="PMingLiU"/>
                <a:ea typeface="PMingLiU"/>
                <a:cs typeface="PMingLiU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3B2A1F"/>
                </a:solidFill>
                <a:latin typeface="PMingLiU"/>
                <a:ea typeface="PMingLiU"/>
                <a:cs typeface="PMingLiU"/>
              </a:defRPr>
            </a:pPr>
            <a:r>
              <a:rPr sz="1500" b="0">
                <a:solidFill>
                  <a:srgbClr val="3B2A1F"/>
                </a:solidFill>
                <a:latin typeface="PMingLiU"/>
                <a:ea typeface="PMingLiU"/>
                <a:cs typeface="PMingLiU"/>
              </a:rPr>
              <a:t>02｜警政署 165 全民防騙網</a:t>
            </a:r>
          </a:p>
          <a:p xmlns:a="http://schemas.openxmlformats.org/drawingml/2006/main">
            <a:pPr algn="l">
              <a:defRPr sz="1500" b="0">
                <a:solidFill>
                  <a:srgbClr val="3B2A1F"/>
                </a:solidFill>
                <a:latin typeface="PMingLiU"/>
                <a:ea typeface="PMingLiU"/>
                <a:cs typeface="PMingLiU"/>
              </a:defRPr>
            </a:pPr>
            <a:r>
              <a:rPr sz="1500" b="0">
                <a:solidFill>
                  <a:srgbClr val="3B2A1F"/>
                </a:solidFill>
                <a:latin typeface="PMingLiU"/>
                <a:ea typeface="PMingLiU"/>
                <a:cs typeface="PMingLiU"/>
              </a:rPr>
              <a:t>https://165.npa.gov.tw/</a:t>
            </a:r>
          </a:p>
        </p:txBody>
      </p:sp>
      <p:sp>
        <p:nvSpPr>
          <p:cNvPr id="9" name="reference-3">
            <a:extLst xmlns:a="http://schemas.openxmlformats.org/drawingml/2006/main">
              <a:ext uri="{FF2B5EF4-FFF2-40B4-BE49-F238E27FC236}">
                <a16:creationId xmlns:a16="http://schemas.microsoft.com/office/drawing/2014/main" id="{45C411CF-8128-45FB-A524-6B6318307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0375"/>
            <a:ext cx="5143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3B2A1F"/>
                </a:solidFill>
                <a:latin typeface="PMingLiU"/>
                <a:ea typeface="PMingLiU"/>
                <a:cs typeface="PMingLiU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3B2A1F"/>
                </a:solidFill>
                <a:latin typeface="PMingLiU"/>
                <a:ea typeface="PMingLiU"/>
                <a:cs typeface="PMingLiU"/>
              </a:defRPr>
            </a:pPr>
            <a:r>
              <a:rPr sz="1500" b="0">
                <a:solidFill>
                  <a:srgbClr val="3B2A1F"/>
                </a:solidFill>
                <a:latin typeface="PMingLiU"/>
                <a:ea typeface="PMingLiU"/>
                <a:cs typeface="PMingLiU"/>
              </a:rPr>
              <a:t>03｜165 打詐儀錶板與防詐客服</a:t>
            </a:r>
          </a:p>
          <a:p xmlns:a="http://schemas.openxmlformats.org/drawingml/2006/main">
            <a:pPr algn="l">
              <a:defRPr sz="1500" b="0">
                <a:solidFill>
                  <a:srgbClr val="3B2A1F"/>
                </a:solidFill>
                <a:latin typeface="PMingLiU"/>
                <a:ea typeface="PMingLiU"/>
                <a:cs typeface="PMingLiU"/>
              </a:defRPr>
            </a:pPr>
            <a:r>
              <a:rPr sz="1500" b="0">
                <a:solidFill>
                  <a:srgbClr val="3B2A1F"/>
                </a:solidFill>
                <a:latin typeface="PMingLiU"/>
                <a:ea typeface="PMingLiU"/>
                <a:cs typeface="PMingLiU"/>
              </a:rPr>
              <a:t>https://165dashboard.tw/</a:t>
            </a:r>
          </a:p>
        </p:txBody>
      </p:sp>
      <p:sp>
        <p:nvSpPr>
          <p:cNvPr id="10" name="reference-4">
            <a:extLst xmlns:a="http://schemas.openxmlformats.org/drawingml/2006/main">
              <a:ext uri="{FF2B5EF4-FFF2-40B4-BE49-F238E27FC236}">
                <a16:creationId xmlns:a16="http://schemas.microsoft.com/office/drawing/2014/main" id="{D77FBF1F-45E3-4B52-B512-D31540996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000375"/>
            <a:ext cx="5143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3B2A1F"/>
                </a:solidFill>
                <a:latin typeface="PMingLiU"/>
                <a:ea typeface="PMingLiU"/>
                <a:cs typeface="PMingLiU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3B2A1F"/>
                </a:solidFill>
                <a:latin typeface="PMingLiU"/>
                <a:ea typeface="PMingLiU"/>
                <a:cs typeface="PMingLiU"/>
              </a:defRPr>
            </a:pPr>
            <a:r>
              <a:rPr sz="1500" b="0">
                <a:solidFill>
                  <a:srgbClr val="3B2A1F"/>
                </a:solidFill>
                <a:latin typeface="PMingLiU"/>
                <a:ea typeface="PMingLiU"/>
                <a:cs typeface="PMingLiU"/>
              </a:rPr>
              <a:t>04｜OpenAI Structured Outputs</a:t>
            </a:r>
          </a:p>
          <a:p xmlns:a="http://schemas.openxmlformats.org/drawingml/2006/main">
            <a:pPr algn="l">
              <a:defRPr sz="1500" b="0">
                <a:solidFill>
                  <a:srgbClr val="3B2A1F"/>
                </a:solidFill>
                <a:latin typeface="PMingLiU"/>
                <a:ea typeface="PMingLiU"/>
                <a:cs typeface="PMingLiU"/>
              </a:defRPr>
            </a:pPr>
            <a:r>
              <a:rPr sz="1500" b="0">
                <a:solidFill>
                  <a:srgbClr val="3B2A1F"/>
                </a:solidFill>
                <a:latin typeface="PMingLiU"/>
                <a:ea typeface="PMingLiU"/>
                <a:cs typeface="PMingLiU"/>
              </a:rPr>
              <a:t>https://platform.openai.com/docs/guides/structured-outputs</a:t>
            </a:r>
          </a:p>
        </p:txBody>
      </p:sp>
      <p:sp>
        <p:nvSpPr>
          <p:cNvPr id="11" name="reference-5">
            <a:extLst xmlns:a="http://schemas.openxmlformats.org/drawingml/2006/main">
              <a:ext uri="{FF2B5EF4-FFF2-40B4-BE49-F238E27FC236}">
                <a16:creationId xmlns:a16="http://schemas.microsoft.com/office/drawing/2014/main" id="{183452E0-A55D-45B2-96B4-325962765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0"/>
            <a:ext cx="5143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3B2A1F"/>
                </a:solidFill>
                <a:latin typeface="PMingLiU"/>
                <a:ea typeface="PMingLiU"/>
                <a:cs typeface="PMingLiU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3B2A1F"/>
                </a:solidFill>
                <a:latin typeface="PMingLiU"/>
                <a:ea typeface="PMingLiU"/>
                <a:cs typeface="PMingLiU"/>
              </a:defRPr>
            </a:pPr>
            <a:r>
              <a:rPr sz="1500" b="0">
                <a:solidFill>
                  <a:srgbClr val="3B2A1F"/>
                </a:solidFill>
                <a:latin typeface="PMingLiU"/>
                <a:ea typeface="PMingLiU"/>
                <a:cs typeface="PMingLiU"/>
              </a:rPr>
              <a:t>05｜GuardAI 正式網站</a:t>
            </a:r>
          </a:p>
          <a:p xmlns:a="http://schemas.openxmlformats.org/drawingml/2006/main">
            <a:pPr algn="l">
              <a:defRPr sz="1500" b="0">
                <a:solidFill>
                  <a:srgbClr val="3B2A1F"/>
                </a:solidFill>
                <a:latin typeface="PMingLiU"/>
                <a:ea typeface="PMingLiU"/>
                <a:cs typeface="PMingLiU"/>
              </a:defRPr>
            </a:pPr>
            <a:r>
              <a:rPr sz="1500" b="0">
                <a:solidFill>
                  <a:srgbClr val="3B2A1F"/>
                </a:solidFill>
                <a:latin typeface="PMingLiU"/>
                <a:ea typeface="PMingLiU"/>
                <a:cs typeface="PMingLiU"/>
              </a:rPr>
              <a:t>https://guardai-olive.vercel.app</a:t>
            </a:r>
          </a:p>
        </p:txBody>
      </p:sp>
      <p:sp>
        <p:nvSpPr>
          <p:cNvPr id="12" name="reference-6">
            <a:extLst xmlns:a="http://schemas.openxmlformats.org/drawingml/2006/main">
              <a:ext uri="{FF2B5EF4-FFF2-40B4-BE49-F238E27FC236}">
                <a16:creationId xmlns:a16="http://schemas.microsoft.com/office/drawing/2014/main" id="{6E27E40D-83A7-46AC-B585-19A13527F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191000"/>
            <a:ext cx="5143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3B2A1F"/>
                </a:solidFill>
                <a:latin typeface="PMingLiU"/>
                <a:ea typeface="PMingLiU"/>
                <a:cs typeface="PMingLiU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3B2A1F"/>
                </a:solidFill>
                <a:latin typeface="PMingLiU"/>
                <a:ea typeface="PMingLiU"/>
                <a:cs typeface="PMingLiU"/>
              </a:defRPr>
            </a:pPr>
            <a:r>
              <a:rPr sz="1500" b="0">
                <a:solidFill>
                  <a:srgbClr val="3B2A1F"/>
                </a:solidFill>
                <a:latin typeface="PMingLiU"/>
                <a:ea typeface="PMingLiU"/>
                <a:cs typeface="PMingLiU"/>
              </a:rPr>
              <a:t>06｜原始碼、README 與測試報告</a:t>
            </a:r>
          </a:p>
          <a:p xmlns:a="http://schemas.openxmlformats.org/drawingml/2006/main">
            <a:pPr algn="l">
              <a:defRPr sz="1500" b="0">
                <a:solidFill>
                  <a:srgbClr val="3B2A1F"/>
                </a:solidFill>
                <a:latin typeface="PMingLiU"/>
                <a:ea typeface="PMingLiU"/>
                <a:cs typeface="PMingLiU"/>
              </a:defRPr>
            </a:pPr>
            <a:r>
              <a:rPr sz="1500" b="0">
                <a:solidFill>
                  <a:srgbClr val="3B2A1F"/>
                </a:solidFill>
                <a:latin typeface="PMingLiU"/>
                <a:ea typeface="PMingLiU"/>
                <a:cs typeface="PMingLiU"/>
              </a:rPr>
              <a:t>https://github.com/prayer168/guardai</a:t>
            </a:r>
          </a:p>
        </p:txBody>
      </p:sp>
      <p:sp>
        <p:nvSpPr>
          <p:cNvPr id="13" name="references-footer">
            <a:extLst xmlns:a="http://schemas.openxmlformats.org/drawingml/2006/main">
              <a:ext uri="{FF2B5EF4-FFF2-40B4-BE49-F238E27FC236}">
                <a16:creationId xmlns:a16="http://schemas.microsoft.com/office/drawing/2014/main" id="{6F52F4C3-EEB1-4505-B651-466B1EA6A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90550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566A46"/>
                </a:solidFill>
                <a:latin typeface="PMingLiU"/>
                <a:ea typeface="PMingLiU"/>
                <a:cs typeface="PMingLiU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566A46"/>
                </a:solidFill>
                <a:latin typeface="PMingLiU"/>
                <a:ea typeface="PMingLiU"/>
                <a:cs typeface="PMingLiU"/>
              </a:defRPr>
            </a:pPr>
            <a:r>
              <a:rPr sz="1650" b="1">
                <a:solidFill>
                  <a:srgbClr val="566A46"/>
                </a:solidFill>
                <a:latin typeface="PMingLiU"/>
                <a:ea typeface="PMingLiU"/>
                <a:cs typeface="PMingLiU"/>
              </a:rPr>
              <a:t>所有成效數據均區分程式測試、Demo 模擬與真人試用。</a:t>
            </a:r>
          </a:p>
        </p:txBody>
      </p:sp>
      <p:sp>
        <p:nvSpPr>
          <p:cNvPr id="14" name="references-page">
            <a:extLst xmlns:a="http://schemas.openxmlformats.org/drawingml/2006/main">
              <a:ext uri="{FF2B5EF4-FFF2-40B4-BE49-F238E27FC236}">
                <a16:creationId xmlns:a16="http://schemas.microsoft.com/office/drawing/2014/main" id="{92694CCB-594D-413E-8C98-CC9CD38B2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7B552E"/>
                </a:solidFill>
                <a:latin typeface="PMingLiU"/>
                <a:ea typeface="PMingLiU"/>
                <a:cs typeface="PMingLiU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7B552E"/>
                </a:solidFill>
                <a:latin typeface="PMingLiU"/>
                <a:ea typeface="PMingLiU"/>
                <a:cs typeface="PMingLiU"/>
              </a:defRPr>
            </a:pPr>
            <a:r>
              <a:rPr sz="975" b="0">
                <a:solidFill>
                  <a:srgbClr val="7B552E"/>
                </a:solidFill>
                <a:latin typeface="PMingLiU"/>
                <a:ea typeface="PMingLiU"/>
                <a:cs typeface="PMingLiU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942509198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erif CJK T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erif CJK T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2026-10-06T11:34:23.0620000Z</dcterms:created>
  <dcterms:modified xsi:type="dcterms:W3CDTF">2026-10-06T11:34:23.0620000Z</dcterms:modified>
</coreProperties>
</file>